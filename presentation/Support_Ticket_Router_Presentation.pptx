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b557540262b40d1" /><Relationship Type="http://schemas.openxmlformats.org/officeDocument/2006/relationships/extended-properties" Target="/docProps/app.xml" Id="Rd02667c9364d41ff" /><Relationship Type="http://schemas.openxmlformats.org/officeDocument/2006/relationships/officeDocument" Target="/ppt/presentation.xml" Id="Re215399e5bbd4098" /></Relationships>
</file>

<file path=ppt/presentation.xml><?xml version="1.0" encoding="utf-8"?>
<p:presentation xmlns:p="http://schemas.openxmlformats.org/presentationml/2006/main">
  <p:sldMasterIdLst>
    <p:sldMasterId xmlns:r="http://schemas.openxmlformats.org/officeDocument/2006/relationships" id="2147483648" r:id="Rc22c932b2fa8463a"/>
  </p:sldMasterIdLst>
  <p:notesMasterIdLst>
    <p:notesMasterId xmlns:r="http://schemas.openxmlformats.org/officeDocument/2006/relationships" r:id="R6baca5cb14a64a26"/>
  </p:notesMasterIdLst>
  <p:sldIdLst>
    <p:sldId xmlns:r="http://schemas.openxmlformats.org/officeDocument/2006/relationships" id="256" r:id="R3ec702a0ae5f407c"/>
    <p:sldId xmlns:r="http://schemas.openxmlformats.org/officeDocument/2006/relationships" id="257" r:id="R86cf86cb808144af"/>
    <p:sldId xmlns:r="http://schemas.openxmlformats.org/officeDocument/2006/relationships" id="258" r:id="Rd6575f345ba04e09"/>
    <p:sldId xmlns:r="http://schemas.openxmlformats.org/officeDocument/2006/relationships" id="259" r:id="R37dabd7c02c4484b"/>
    <p:sldId xmlns:r="http://schemas.openxmlformats.org/officeDocument/2006/relationships" id="260" r:id="Ra23feb287217401f"/>
    <p:sldId xmlns:r="http://schemas.openxmlformats.org/officeDocument/2006/relationships" id="261" r:id="R5bffda3c618343dc"/>
    <p:sldId xmlns:r="http://schemas.openxmlformats.org/officeDocument/2006/relationships" id="262" r:id="R5606859e6f34483d"/>
    <p:sldId xmlns:r="http://schemas.openxmlformats.org/officeDocument/2006/relationships" id="263" r:id="R1f2598a0bf714455"/>
    <p:sldId xmlns:r="http://schemas.openxmlformats.org/officeDocument/2006/relationships" id="264" r:id="R06064391e6974ba8"/>
    <p:sldId xmlns:r="http://schemas.openxmlformats.org/officeDocument/2006/relationships" id="265" r:id="Rb43095c042094b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6ea0dece3840f8" /><Relationship Type="http://schemas.openxmlformats.org/officeDocument/2006/relationships/slideMaster" Target="/ppt/slideMasters/slideMaster1.xml" Id="Rc22c932b2fa8463a" /><Relationship Type="http://schemas.openxmlformats.org/officeDocument/2006/relationships/notesMaster" Target="/ppt/notesMasters/notesMaster1.xml" Id="R6baca5cb14a64a26" /><Relationship Type="http://schemas.openxmlformats.org/officeDocument/2006/relationships/presProps" Target="/ppt/presProps.xml" Id="Rcf00f2e085294114" /><Relationship Type="http://schemas.openxmlformats.org/officeDocument/2006/relationships/tableStyles" Target="/ppt/tableStyles.xml" Id="Ra390ae9bc31d4bf3" /><Relationship Type="http://schemas.openxmlformats.org/officeDocument/2006/relationships/slide" Target="/ppt/slides/slide1.xml" Id="R3ec702a0ae5f407c" /><Relationship Type="http://schemas.openxmlformats.org/officeDocument/2006/relationships/slide" Target="/ppt/slides/slide2.xml" Id="R86cf86cb808144af" /><Relationship Type="http://schemas.openxmlformats.org/officeDocument/2006/relationships/slide" Target="/ppt/slides/slide3.xml" Id="Rd6575f345ba04e09" /><Relationship Type="http://schemas.openxmlformats.org/officeDocument/2006/relationships/slide" Target="/ppt/slides/slide4.xml" Id="R37dabd7c02c4484b" /><Relationship Type="http://schemas.openxmlformats.org/officeDocument/2006/relationships/slide" Target="/ppt/slides/slide5.xml" Id="Ra23feb287217401f" /><Relationship Type="http://schemas.openxmlformats.org/officeDocument/2006/relationships/slide" Target="/ppt/slides/slide6.xml" Id="R5bffda3c618343dc" /><Relationship Type="http://schemas.openxmlformats.org/officeDocument/2006/relationships/slide" Target="/ppt/slides/slide7.xml" Id="R5606859e6f34483d" /><Relationship Type="http://schemas.openxmlformats.org/officeDocument/2006/relationships/slide" Target="/ppt/slides/slide8.xml" Id="R1f2598a0bf714455" /><Relationship Type="http://schemas.openxmlformats.org/officeDocument/2006/relationships/slide" Target="/ppt/slides/slide9.xml" Id="R06064391e6974ba8" /><Relationship Type="http://schemas.openxmlformats.org/officeDocument/2006/relationships/slide" Target="/ppt/slides/slide10.xml" Id="Rb43095c042094b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8f48523f924c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6c6cacba4346e7" /><Relationship Type="http://schemas.openxmlformats.org/officeDocument/2006/relationships/notesMaster" Target="/ppt/notesMasters/notesMaster1.xml" Id="R2c2c18bd7cad4c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38560834354413" /><Relationship Type="http://schemas.openxmlformats.org/officeDocument/2006/relationships/notesMaster" Target="/ppt/notesMasters/notesMaster1.xml" Id="Rf49c3d7f46c044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d4fe1a04114dc9" /><Relationship Type="http://schemas.openxmlformats.org/officeDocument/2006/relationships/notesMaster" Target="/ppt/notesMasters/notesMaster1.xml" Id="R982a2bf92b6f43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56ddca10ff46af" /><Relationship Type="http://schemas.openxmlformats.org/officeDocument/2006/relationships/notesMaster" Target="/ppt/notesMasters/notesMaster1.xml" Id="R3881401711844b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72dd2893c04f53" /><Relationship Type="http://schemas.openxmlformats.org/officeDocument/2006/relationships/notesMaster" Target="/ppt/notesMasters/notesMaster1.xml" Id="Rae06d14562fa4f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26062d1c284a58" /><Relationship Type="http://schemas.openxmlformats.org/officeDocument/2006/relationships/notesMaster" Target="/ppt/notesMasters/notesMaster1.xml" Id="R5a968cfa485144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348397be0e48f1" /><Relationship Type="http://schemas.openxmlformats.org/officeDocument/2006/relationships/notesMaster" Target="/ppt/notesMasters/notesMaster1.xml" Id="R38b579dc9af04a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1f0a7e0a194d00" /><Relationship Type="http://schemas.openxmlformats.org/officeDocument/2006/relationships/notesMaster" Target="/ppt/notesMasters/notesMaster1.xml" Id="Racf0d0582b3047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82ebf12d4a4a18" /><Relationship Type="http://schemas.openxmlformats.org/officeDocument/2006/relationships/notesMaster" Target="/ppt/notesMasters/notesMaster1.xml" Id="Re3072504f23f46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b57df627014104" /><Relationship Type="http://schemas.openxmlformats.org/officeDocument/2006/relationships/notesMaster" Target="/ppt/notesMasters/notesMaster1.xml" Id="Rf221062314244a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I’m Nishok. This project compares two ways to fine-tune a support-ticket router: on my 16 GB Mac Mini M4 using MLX, and on Fireworks using a cloud GPU. Both approaches improved substantially over their own baselines. On the same 117 test tickets, the Mac model got 97 correct and the cloud model got 98. I’ll explain the workflow, the evidence, and why that small difference does not establish a clear winner.</a:t>
            </a:r>
          </a:p>
          <a:p xmlns:a="http://schemas.openxmlformats.org/drawingml/2006/main">
            <a:r>
              <a:t/>
            </a:r>
          </a:p>
          <a:p xmlns:a="http://schemas.openxmlformats.org/drawingml/2006/main">
            <a:r>
              <a:t>Sources: results/REPORT.md; ATTRIBUTION.md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is a short IT support ticket. The output is exactly one team label. For example, an Adobe Acrobat installation failure should route to Software. The dataset has seven service categories, including general support, file services, Microsoft 365, end of life, Active Directory, and computer services. These labels identify teams, not urgency. The assignment originally used a smaller Qwen base model in Colab. This project extends it with two different instruction models and deployment methods.</a:t>
            </a:r>
          </a:p>
          <a:p xmlns:a="http://schemas.openxmlformats.org/drawingml/2006/main">
            <a:r>
              <a:t/>
            </a:r>
          </a:p>
          <a:p xmlns:a="http://schemas.openxmlformats.org/drawingml/2006/main">
            <a:r>
              <a:t>Sources: scripts/prepare_data.py; scripts/evaluate.py; original assignment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began with 585 labeled tickets. The shared split contains 372 training tickets, 94 validation tickets, and 117 final test tickets. Two training examples were nearly identical to test examples, so the preparation script removed them. Stable ticket IDs and file hashes keep both experiments aligned. Training updates use only the training split. Validation checks learning and the model export. The test set measures final performance after the choices are fixed.</a:t>
            </a:r>
          </a:p>
          <a:p xmlns:a="http://schemas.openxmlformats.org/drawingml/2006/main">
            <a:r>
              <a:t/>
            </a:r>
          </a:p>
          <a:p xmlns:a="http://schemas.openxmlformats.org/drawingml/2006/main">
            <a:r>
              <a:t>Sources: data/manifest.json; scripts/prepare_data.py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Mac, MLX trained a small LoRA adapter on a four-bit Qwen 4B base. Four-bit storage reduced memory use. I processed one ticket at a time and accumulated four gradients before each update. On Fireworks, a dedicated H200 trained a Llama 3B adapter with batches of four. Both runs used rank eight, a learning rate of 0.0001, three epochs, and 279 optimizer updates. Only the assistant’s expected answer contributed to the loss. The model family and precision differ, which limits a direct platform comparison.</a:t>
            </a:r>
          </a:p>
          <a:p xmlns:a="http://schemas.openxmlformats.org/drawingml/2006/main">
            <a:r>
              <a:t/>
            </a:r>
          </a:p>
          <a:p xmlns:a="http://schemas.openxmlformats.org/drawingml/2006/main">
            <a:r>
              <a:t>Sources: configs/local_full.json; configs/fireworks_llama_dedicated.json; results/fireworks-llama-training.json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local training, I merged the adapter into the base model for a standalone demo. The first four-bit merged export lost substantial validation accuracy: it fell from 90.4 percent to 71.3 percent. I then produced an eight-bit projection export. It matched the adapter at 90.4 percent validation accuracy, so I selected it before evaluating the test set. Its test predictions match the adapter exactly. The lesson is that a successful merge operation does not guarantee preserved model quality.</a:t>
            </a:r>
          </a:p>
          <a:p xmlns:a="http://schemas.openxmlformats.org/drawingml/2006/main">
            <a:r>
              <a:t/>
            </a:r>
          </a:p>
          <a:p xmlns:a="http://schemas.openxmlformats.org/drawingml/2006/main">
            <a:r>
              <a:t>Sources: results/local-full-valid/metrics.json; results/local-merged-valid/metrics.json; results/local-merged-8bit-valid/metrics.json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shared test set, the Mac baseline scored 44.4 percent accuracy and the trained model scored 82.9 percent. Fireworks improved from 41.0 percent to 83.8 percent. That is 97 correct tickets locally and 98 in the cloud. The tuned macro F1 scores were 0.794 and 0.810. We used the same prompt text, temperature zero, a limit of sixteen output tokens, and strict category parsing. The cloud baseline produced two invalid labels. Both tuned models produced none.</a:t>
            </a:r>
          </a:p>
          <a:p xmlns:a="http://schemas.openxmlformats.org/drawingml/2006/main">
            <a:r>
              <a:t/>
            </a:r>
          </a:p>
          <a:p xmlns:a="http://schemas.openxmlformats.org/drawingml/2006/main">
            <a:r>
              <a:t>Sources: results/local-baseline-test/metrics.json; results/local-merged-8bit-test/metrics.json; results/fireworks-baseline-test/metrics.json; results/fireworks-tuned-test/metrics.json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cloud model was correct on seven tickets the Mac missed. The Mac was correct on six tickets the cloud missed. That leaves a net difference of one ticket, which is too small to establish a reliable overall winner from this experiment. Active Directory remains a weakness: the Mac identified four of nine tickets, while Fireworks identified three. Both models passed four of the five smoke tests and missed the generic new-account example. Related labels are ambiguous, so I preserved the failures rather than changing the answers.</a:t>
            </a:r>
          </a:p>
          <a:p xmlns:a="http://schemas.openxmlformats.org/drawingml/2006/main">
            <a:r>
              <a:t/>
            </a:r>
          </a:p>
          <a:p xmlns:a="http://schemas.openxmlformats.org/drawingml/2006/main">
            <a:r>
              <a:t>Sources: results/REPORT.md; results/label-audit.md; results/fireworks-tuned-smoke/predictions.jsonl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training run took about 25 minutes and reported 3.03 gibibytes of peak MLX allocation. Fireworks took about 9.9 minutes including startup, checkpoint saves and cleanup. The timing boundaries differ, so these are operational timings rather than pure compute benchmarks. Median test latency was about 0.511 seconds locally and 0.218 seconds on Fireworks, including network travel. At the saved billing check, Fireworks showed 87 cents total spend, with reporting lag possible. Both temporary cloud GPUs are deleted, and the trained adapter remains stored.</a:t>
            </a:r>
          </a:p>
          <a:p xmlns:a="http://schemas.openxmlformats.org/drawingml/2006/main">
            <a:r>
              <a:t/>
            </a:r>
          </a:p>
          <a:p xmlns:a="http://schemas.openxmlformats.org/drawingml/2006/main">
            <a:r>
              <a:t>Sources: results/REPORT.md; results/fireworks-final-billing.json; results/fireworks-final-resources.json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demo, I can use the trained model directly on my Mac. I run the classification command with a ticket asking to install Adobe Acrobat, and the model returns Software. No cloud deployment is needed for that local command. The repository also contains the raw predictions, per-class metrics, confusion matrices, training records, and a results notebook. The notebook displays evidence from real script runs. It does not claim that training ran inside notebook cells.</a:t>
            </a:r>
          </a:p>
          <a:p xmlns:a="http://schemas.openxmlformats.org/drawingml/2006/main">
            <a:r>
              <a:t/>
            </a:r>
          </a:p>
          <a:p xmlns:a="http://schemas.openxmlformats.org/drawingml/2006/main">
            <a:r>
              <a:t>Sources: scripts/classify.py; Comparison_Results.ipynb; results/REPORT.md; https://github.com/nishokvg/finetuning-compare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main conclusion is that a small adapter can substantially improve this routing task, both locally and in the cloud. The Mac was capable of the full workflow within its memory limits, while Fireworks provided a shorter operational training run. Evaluation mattered at every stage: it caught damage from merging, exposed formatting failures, and identified weak category recall. My next improvement would be to review ambiguous labels and collect more Active Directory examples, then test on new held-out data. The submission includes reproducible code, the measured report, and the limitations alongside the results.</a:t>
            </a:r>
          </a:p>
          <a:p xmlns:a="http://schemas.openxmlformats.org/drawingml/2006/main">
            <a:r>
              <a:t/>
            </a:r>
          </a:p>
          <a:p xmlns:a="http://schemas.openxmlformats.org/drawingml/2006/main">
            <a:r>
              <a:t>Sources: PROJECT_WALKTHROUGH.md; results/REPORT.md; ATTRIBUTION.md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05e38fb18545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40fb651cee436d" /><Relationship Type="http://schemas.openxmlformats.org/officeDocument/2006/relationships/slideLayout" Target="/ppt/slideLayouts/slideLayout1.xml" Id="Ra12ece5644ac48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2ece5644ac48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89fe7364c445cb" /><Relationship Type="http://schemas.openxmlformats.org/officeDocument/2006/relationships/notesSlide" Target="/ppt/notesSlides/notesSlide1.xml" Id="R8917897e524d4c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9c08e433754828" /><Relationship Type="http://schemas.openxmlformats.org/officeDocument/2006/relationships/notesSlide" Target="/ppt/notesSlides/notesSlide2.xml" Id="R2403a703523241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e4f1e6e8284f89" /><Relationship Type="http://schemas.openxmlformats.org/officeDocument/2006/relationships/notesSlide" Target="/ppt/notesSlides/notesSlide3.xml" Id="R4bbba8f2c4c14c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5b2eee389304de0" /><Relationship Type="http://schemas.openxmlformats.org/officeDocument/2006/relationships/notesSlide" Target="/ppt/notesSlides/notesSlide4.xml" Id="R891c157728dc4b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fd37fb954e406e" /><Relationship Type="http://schemas.openxmlformats.org/officeDocument/2006/relationships/chart" Target="/ppt/slides/charts/chart1.xml" Id="R95a76a7b126e4c57" /><Relationship Type="http://schemas.openxmlformats.org/officeDocument/2006/relationships/notesSlide" Target="/ppt/notesSlides/notesSlide5.xml" Id="R9fa9f816c62b49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ef43de15ae4950" /><Relationship Type="http://schemas.openxmlformats.org/officeDocument/2006/relationships/chart" Target="/ppt/slides/charts/chart2.xml" Id="R6f877b159f8c4a36" /><Relationship Type="http://schemas.openxmlformats.org/officeDocument/2006/relationships/notesSlide" Target="/ppt/notesSlides/notesSlide6.xml" Id="R051c3e8758644e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1fdee08ffa647d2" /><Relationship Type="http://schemas.openxmlformats.org/officeDocument/2006/relationships/notesSlide" Target="/ppt/notesSlides/notesSlide7.xml" Id="Rdd740138a6e445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f7dbdb6b85c4b55" /><Relationship Type="http://schemas.openxmlformats.org/officeDocument/2006/relationships/notesSlide" Target="/ppt/notesSlides/notesSlide8.xml" Id="R9cbee959eea249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543f2007bc489c" /><Relationship Type="http://schemas.openxmlformats.org/officeDocument/2006/relationships/notesSlide" Target="/ppt/notesSlides/notesSlide9.xml" Id="Rd3499d0896994a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36f4d8e11f4948" /><Relationship Type="http://schemas.openxmlformats.org/officeDocument/2006/relationships/notesSlide" Target="/ppt/notesSlides/notesSlide10.xml" Id="Rf10efa21b4334ab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Validation accuracy</c:v>
          </c:tx>
          <c:spPr>
            <a:solidFill xmlns:a="http://schemas.openxmlformats.org/drawingml/2006/main">
              <a:srgbClr val="2563EB"/>
            </a:solidFill>
          </c:spPr>
          <c:cat>
            <c:strRef>
              <c:f>'Chart Data'!$A$2:$A$4</c:f>
              <c:strCache>
                <c:ptCount val="3"/>
                <c:pt idx="0">
                  <c:v>Adapter</c:v>
                </c:pt>
                <c:pt idx="1">
                  <c:v>4-bit export</c:v>
                </c:pt>
                <c:pt idx="2">
                  <c:v>8-bit export</c:v>
                </c:pt>
              </c:strCache>
            </c:strRef>
          </c:cat>
          <c:val>
            <c:numRef>
              <c:f>'Chart Data'!$B$2:$B$4</c:f>
              <c:numCache>
                <c:formatCode>0</c:formatCode>
                <c:ptCount val="3"/>
                <c:pt idx="0">
                  <c:v>90.4</c:v>
                </c:pt>
                <c:pt idx="1">
                  <c:v>71.3</c:v>
                </c:pt>
                <c:pt idx="2">
                  <c:v>90.4</c:v>
                </c:pt>
              </c:numCache>
            </c:numRef>
          </c:val>
        </c:ser>
        <c:dLbls>
          <c:txPr>
            <a:bodyPr xmlns:a="http://schemas.openxmlformats.org/drawingml/2006/main" anchorCtr="1"/>
            <a:lstStyle xmlns:a="http://schemas.openxmlformats.org/drawingml/2006/main"/>
            <a:p xmlns:a="http://schemas.openxmlformats.org/drawingml/2006/main">
              <a:pPr>
                <a:defRPr sz="1875" b="1">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Helvetica Neue"/>
                <a:ea typeface="Helvetica Neue"/>
                <a:cs typeface="Helvetica Neue"/>
              </a:defRPr>
            </a:pPr>
          </a:p>
        </c:txPr>
        <c:crossAx val="48672768"/>
      </c:catAx>
      <c:valAx>
        <c:axId val="48672768"/>
        <c:scaling>
          <c:orientation val="minMax"/>
          <c:max val="100"/>
          <c:min val="0"/>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Accuracy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50112"/>
        <c:crossBetween val="between"/>
        <c:majorUnit val="20"/>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Baseline</c:v>
          </c:tx>
          <c:spPr>
            <a:solidFill xmlns:a="http://schemas.openxmlformats.org/drawingml/2006/main">
              <a:srgbClr val="2563EB"/>
            </a:solidFill>
          </c:spPr>
          <c:cat>
            <c:strRef>
              <c:f>'Chart Data'!$A$2:$A$3</c:f>
              <c:strCache>
                <c:ptCount val="2"/>
                <c:pt idx="0">
                  <c:v>Mac Qwen 4B</c:v>
                </c:pt>
                <c:pt idx="1">
                  <c:v>Fireworks Llama 3B</c:v>
                </c:pt>
              </c:strCache>
            </c:strRef>
          </c:cat>
          <c:val>
            <c:numRef>
              <c:f>'Chart Data'!$B$2:$B$3</c:f>
              <c:numCache>
                <c:formatCode>0</c:formatCode>
                <c:ptCount val="2"/>
                <c:pt idx="0">
                  <c:v>44.4</c:v>
                </c:pt>
                <c:pt idx="1">
                  <c:v>41</c:v>
                </c:pt>
              </c:numCache>
            </c:numRef>
          </c:val>
        </c:ser>
        <c:ser>
          <c:idx val="1"/>
          <c:order val="1"/>
          <c:tx>
            <c:v>Fine-tuned</c:v>
          </c:tx>
          <c:spPr>
            <a:solidFill xmlns:a="http://schemas.openxmlformats.org/drawingml/2006/main">
              <a:srgbClr val="078B83"/>
            </a:solidFill>
          </c:spPr>
          <c:cat>
            <c:strRef>
              <c:f>'Chart Data'!$C$2:$C$3</c:f>
              <c:strCache>
                <c:ptCount val="2"/>
                <c:pt idx="0">
                  <c:v>Mac Qwen 4B</c:v>
                </c:pt>
                <c:pt idx="1">
                  <c:v>Fireworks Llama 3B</c:v>
                </c:pt>
              </c:strCache>
            </c:strRef>
          </c:cat>
          <c:val>
            <c:numRef>
              <c:f>'Chart Data'!$D$2:$D$3</c:f>
              <c:numCache>
                <c:formatCode>0</c:formatCode>
                <c:ptCount val="2"/>
                <c:pt idx="0">
                  <c:v>82.9</c:v>
                </c:pt>
                <c:pt idx="1">
                  <c:v>83.8</c:v>
                </c:pt>
              </c:numCache>
            </c:numRef>
          </c:val>
        </c:ser>
        <c:dLbls>
          <c:txPr>
            <a:bodyPr xmlns:a="http://schemas.openxmlformats.org/drawingml/2006/main" anchorCtr="1"/>
            <a:lstStyle xmlns:a="http://schemas.openxmlformats.org/drawingml/2006/main"/>
            <a:p xmlns:a="http://schemas.openxmlformats.org/drawingml/2006/main">
              <a:pPr>
                <a:defRPr sz="1875" b="1">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Helvetica Neue"/>
                <a:ea typeface="Helvetica Neue"/>
                <a:cs typeface="Helvetica Neue"/>
              </a:defRPr>
            </a:pPr>
          </a:p>
        </c:txPr>
        <c:crossAx val="48672768"/>
      </c:catAx>
      <c:valAx>
        <c:axId val="48672768"/>
        <c:scaling>
          <c:orientation val="minMax"/>
          <c:max val="100"/>
          <c:min val="0"/>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Accuracy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172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3D76A4-AE6C-4AAE-87E3-C92BB6ED0FE8}"/>
              </a:ext>
            </a:extLst>
          </p:cNvPr>
          <p:cNvSpPr>
            <a:spLocks xmlns:a="http://schemas.openxmlformats.org/drawingml/2006/main" noGrp="1"/>
          </p:cNvSpPr>
          <p:nvPr/>
        </p:nvSpPr>
        <p:spPr>
          <a:xfrm xmlns:a="http://schemas.openxmlformats.org/drawingml/2006/main">
            <a:off x="647700" y="4191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735"/>
                </a:solidFill>
                <a:latin typeface="Helvetica Neue"/>
                <a:ea typeface="Helvetica Neue"/>
                <a:cs typeface="Helvetica Neue"/>
              </a:defRPr>
            </a:pPr>
            <a:r>
              <a:rPr sz="3300" b="1">
                <a:solidFill>
                  <a:srgbClr val="142735"/>
                </a:solidFill>
                <a:latin typeface="Helvetica Neue"/>
                <a:ea typeface="Helvetica Neue"/>
                <a:cs typeface="Helvetica Neue"/>
              </a:rPr>
              <a:t>Support ticket routing</a:t>
            </a:r>
          </a:p>
        </p:txBody>
      </p:sp>
      <p:sp>
        <p:nvSpPr>
          <p:cNvPr id="2" name="">
            <a:extLst xmlns:a="http://schemas.openxmlformats.org/drawingml/2006/main">
              <a:ext uri="{FF2B5EF4-FFF2-40B4-BE49-F238E27FC236}">
                <a16:creationId xmlns:a16="http://schemas.microsoft.com/office/drawing/2014/main" id="{F991066B-1434-415F-9EC2-401875E45583}"/>
              </a:ext>
            </a:extLst>
          </p:cNvPr>
          <p:cNvSpPr>
            <a:spLocks xmlns:a="http://schemas.openxmlformats.org/drawingml/2006/main" noGrp="1"/>
          </p:cNvSpPr>
          <p:nvPr/>
        </p:nvSpPr>
        <p:spPr>
          <a:xfrm xmlns:a="http://schemas.openxmlformats.org/drawingml/2006/main">
            <a:off x="11049000" y="63150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70"/>
                </a:solidFill>
                <a:latin typeface="Helvetica Neue"/>
                <a:ea typeface="Helvetica Neue"/>
                <a:cs typeface="Helvetica Neue"/>
              </a:defRPr>
            </a:pPr>
            <a:r>
              <a:rPr sz="1350" b="0">
                <a:solidFill>
                  <a:srgbClr val="506170"/>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E17E844D-7D81-4BF7-BA31-8291AD8E783D}"/>
              </a:ext>
            </a:extLst>
          </p:cNvPr>
          <p:cNvSpPr>
            <a:spLocks xmlns:a="http://schemas.openxmlformats.org/drawingml/2006/main" noGrp="1"/>
          </p:cNvSpPr>
          <p:nvPr/>
        </p:nvSpPr>
        <p:spPr>
          <a:xfrm xmlns:a="http://schemas.openxmlformats.org/drawingml/2006/main">
            <a:off x="685800" y="1838325"/>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42735"/>
                </a:solidFill>
                <a:latin typeface="Helvetica Neue"/>
                <a:ea typeface="Helvetica Neue"/>
                <a:cs typeface="Helvetica Neue"/>
              </a:defRPr>
            </a:pPr>
            <a:r>
              <a:rPr sz="4650" b="1">
                <a:solidFill>
                  <a:srgbClr val="142735"/>
                </a:solidFill>
                <a:latin typeface="Helvetica Neue"/>
                <a:ea typeface="Helvetica Neue"/>
                <a:cs typeface="Helvetica Neue"/>
              </a:rPr>
              <a:t>Fine-tuning on a Mac and Fireworks</a:t>
            </a:r>
          </a:p>
        </p:txBody>
      </p:sp>
      <p:sp>
        <p:nvSpPr>
          <p:cNvPr id="4" name="">
            <a:extLst xmlns:a="http://schemas.openxmlformats.org/drawingml/2006/main">
              <a:ext uri="{FF2B5EF4-FFF2-40B4-BE49-F238E27FC236}">
                <a16:creationId xmlns:a16="http://schemas.microsoft.com/office/drawing/2014/main" id="{79C8219D-7F55-47BC-AF01-87992DCEF1D7}"/>
              </a:ext>
            </a:extLst>
          </p:cNvPr>
          <p:cNvSpPr>
            <a:spLocks xmlns:a="http://schemas.openxmlformats.org/drawingml/2006/main" noGrp="1"/>
          </p:cNvSpPr>
          <p:nvPr/>
        </p:nvSpPr>
        <p:spPr>
          <a:xfrm xmlns:a="http://schemas.openxmlformats.org/drawingml/2006/main">
            <a:off x="723900" y="4143375"/>
            <a:ext cx="857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6170"/>
                </a:solidFill>
                <a:latin typeface="Helvetica Neue"/>
                <a:ea typeface="Helvetica Neue"/>
                <a:cs typeface="Helvetica Neue"/>
              </a:defRPr>
            </a:pPr>
            <a:r>
              <a:rPr sz="2250" b="0">
                <a:solidFill>
                  <a:srgbClr val="506170"/>
                </a:solidFill>
                <a:latin typeface="Helvetica Neue"/>
                <a:ea typeface="Helvetica Neue"/>
                <a:cs typeface="Helvetica Neue"/>
              </a:rPr>
              <a:t>Nishok</a:t>
            </a:r>
          </a:p>
          <a:p xmlns:a="http://schemas.openxmlformats.org/drawingml/2006/main">
            <a:pPr>
              <a:defRPr sz="2250" b="0">
                <a:solidFill>
                  <a:srgbClr val="506170"/>
                </a:solidFill>
                <a:latin typeface="Helvetica Neue"/>
                <a:ea typeface="Helvetica Neue"/>
                <a:cs typeface="Helvetica Neue"/>
              </a:defRPr>
            </a:pPr>
            <a:r>
              <a:rPr sz="2250" b="0">
                <a:solidFill>
                  <a:srgbClr val="506170"/>
                </a:solidFill>
                <a:latin typeface="Helvetica Neue"/>
                <a:ea typeface="Helvetica Neue"/>
                <a:cs typeface="Helvetica Neue"/>
              </a:rPr>
              <a:t>Gen Academy Week 5 project</a:t>
            </a:r>
          </a:p>
        </p:txBody>
      </p:sp>
      <p:sp>
        <p:nvSpPr>
          <p:cNvPr id="5" name="">
            <a:extLst xmlns:a="http://schemas.openxmlformats.org/drawingml/2006/main">
              <a:ext uri="{FF2B5EF4-FFF2-40B4-BE49-F238E27FC236}">
                <a16:creationId xmlns:a16="http://schemas.microsoft.com/office/drawing/2014/main" id="{FE9F5562-B6C3-44D5-B74F-B4BA35457094}"/>
              </a:ext>
            </a:extLst>
          </p:cNvPr>
          <p:cNvSpPr>
            <a:spLocks xmlns:a="http://schemas.openxmlformats.org/drawingml/2006/main" noGrp="1"/>
          </p:cNvSpPr>
          <p:nvPr/>
        </p:nvSpPr>
        <p:spPr>
          <a:xfrm xmlns:a="http://schemas.openxmlformats.org/drawingml/2006/main">
            <a:off x="685800" y="5905500"/>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170"/>
                </a:solidFill>
                <a:latin typeface="Helvetica Neue"/>
                <a:ea typeface="Helvetica Neue"/>
                <a:cs typeface="Helvetica Neue"/>
              </a:defRPr>
            </a:pPr>
            <a:r>
              <a:rPr sz="1425" b="0">
                <a:solidFill>
                  <a:srgbClr val="506170"/>
                </a:solidFill>
                <a:latin typeface="Helvetica Neue"/>
                <a:ea typeface="Helvetica Neue"/>
                <a:cs typeface="Helvetica Neue"/>
              </a:rPr>
              <a:t>Qwen 4B on MLX and Llama 3B on Fireworks</a:t>
            </a:r>
          </a:p>
        </p:txBody>
      </p:sp>
    </p:spTree>
    <p:extLst>
      <p:ext uri="{BB962C8B-B14F-4D97-AF65-F5344CB8AC3E}">
        <p14:creationId xmlns:p14="http://schemas.microsoft.com/office/powerpoint/2010/main" val="14451548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CBF7EA-FCDD-4BBC-8821-13E9C35C896E}"/>
              </a:ext>
            </a:extLst>
          </p:cNvPr>
          <p:cNvSpPr>
            <a:spLocks xmlns:a="http://schemas.openxmlformats.org/drawingml/2006/main" noGrp="1"/>
          </p:cNvSpPr>
          <p:nvPr/>
        </p:nvSpPr>
        <p:spPr>
          <a:xfrm xmlns:a="http://schemas.openxmlformats.org/drawingml/2006/main">
            <a:off x="647700" y="4191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735"/>
                </a:solidFill>
                <a:latin typeface="Helvetica Neue"/>
                <a:ea typeface="Helvetica Neue"/>
                <a:cs typeface="Helvetica Neue"/>
              </a:defRPr>
            </a:pPr>
            <a:r>
              <a:rPr sz="3300" b="1">
                <a:solidFill>
                  <a:srgbClr val="142735"/>
                </a:solidFill>
                <a:latin typeface="Helvetica Neue"/>
                <a:ea typeface="Helvetica Neue"/>
                <a:cs typeface="Helvetica Neue"/>
              </a:rPr>
              <a:t>The routing task</a:t>
            </a:r>
          </a:p>
        </p:txBody>
      </p:sp>
      <p:sp>
        <p:nvSpPr>
          <p:cNvPr id="2" name="">
            <a:extLst xmlns:a="http://schemas.openxmlformats.org/drawingml/2006/main">
              <a:ext uri="{FF2B5EF4-FFF2-40B4-BE49-F238E27FC236}">
                <a16:creationId xmlns:a16="http://schemas.microsoft.com/office/drawing/2014/main" id="{44127F51-17AC-4916-A51A-3114E1D092B2}"/>
              </a:ext>
            </a:extLst>
          </p:cNvPr>
          <p:cNvSpPr>
            <a:spLocks xmlns:a="http://schemas.openxmlformats.org/drawingml/2006/main" noGrp="1"/>
          </p:cNvSpPr>
          <p:nvPr/>
        </p:nvSpPr>
        <p:spPr>
          <a:xfrm xmlns:a="http://schemas.openxmlformats.org/drawingml/2006/main">
            <a:off x="11049000" y="63150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70"/>
                </a:solidFill>
                <a:latin typeface="Helvetica Neue"/>
                <a:ea typeface="Helvetica Neue"/>
                <a:cs typeface="Helvetica Neue"/>
              </a:defRPr>
            </a:pPr>
            <a:r>
              <a:rPr sz="1350" b="0">
                <a:solidFill>
                  <a:srgbClr val="506170"/>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5DCC9982-8B83-43AB-B2EE-B81E92CC6336}"/>
              </a:ext>
            </a:extLst>
          </p:cNvPr>
          <p:cNvSpPr>
            <a:spLocks xmlns:a="http://schemas.openxmlformats.org/drawingml/2006/main" noGrp="1"/>
          </p:cNvSpPr>
          <p:nvPr/>
        </p:nvSpPr>
        <p:spPr>
          <a:xfrm xmlns:a="http://schemas.openxmlformats.org/drawingml/2006/main">
            <a:off x="723900" y="17049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563EB"/>
                </a:solidFill>
                <a:latin typeface="Helvetica Neue"/>
                <a:ea typeface="Helvetica Neue"/>
                <a:cs typeface="Helvetica Neue"/>
              </a:defRPr>
            </a:pPr>
            <a:r>
              <a:rPr sz="3000" b="1">
                <a:solidFill>
                  <a:srgbClr val="2563EB"/>
                </a:solidFill>
                <a:latin typeface="Helvetica Neue"/>
                <a:ea typeface="Helvetica Neue"/>
                <a:cs typeface="Helvetica Neue"/>
              </a:rPr>
              <a:t>“Adobe Acrobat fails to install.”</a:t>
            </a:r>
          </a:p>
        </p:txBody>
      </p:sp>
      <p:sp>
        <p:nvSpPr>
          <p:cNvPr id="4" name="">
            <a:extLst xmlns:a="http://schemas.openxmlformats.org/drawingml/2006/main">
              <a:ext uri="{FF2B5EF4-FFF2-40B4-BE49-F238E27FC236}">
                <a16:creationId xmlns:a16="http://schemas.microsoft.com/office/drawing/2014/main" id="{FFD276C5-0464-4CED-9EB8-028AF5A07DBF}"/>
              </a:ext>
            </a:extLst>
          </p:cNvPr>
          <p:cNvSpPr>
            <a:spLocks xmlns:a="http://schemas.openxmlformats.org/drawingml/2006/main" noGrp="1"/>
          </p:cNvSpPr>
          <p:nvPr/>
        </p:nvSpPr>
        <p:spPr>
          <a:xfrm xmlns:a="http://schemas.openxmlformats.org/drawingml/2006/main">
            <a:off x="723900" y="26193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78B83"/>
                </a:solidFill>
                <a:latin typeface="Helvetica Neue"/>
                <a:ea typeface="Helvetica Neue"/>
                <a:cs typeface="Helvetica Neue"/>
              </a:defRPr>
            </a:pPr>
            <a:r>
              <a:rPr sz="2775" b="1">
                <a:solidFill>
                  <a:srgbClr val="078B83"/>
                </a:solidFill>
                <a:latin typeface="Helvetica Neue"/>
                <a:ea typeface="Helvetica Neue"/>
                <a:cs typeface="Helvetica Neue"/>
              </a:rPr>
              <a:t>Expected team: Software</a:t>
            </a:r>
          </a:p>
        </p:txBody>
      </p:sp>
      <p:sp>
        <p:nvSpPr>
          <p:cNvPr id="5" name="">
            <a:extLst xmlns:a="http://schemas.openxmlformats.org/drawingml/2006/main">
              <a:ext uri="{FF2B5EF4-FFF2-40B4-BE49-F238E27FC236}">
                <a16:creationId xmlns:a16="http://schemas.microsoft.com/office/drawing/2014/main" id="{43CBBD3D-7793-404C-8498-4AE18E46A69F}"/>
              </a:ext>
            </a:extLst>
          </p:cNvPr>
          <p:cNvSpPr>
            <a:spLocks xmlns:a="http://schemas.openxmlformats.org/drawingml/2006/main" noGrp="1"/>
          </p:cNvSpPr>
          <p:nvPr/>
        </p:nvSpPr>
        <p:spPr>
          <a:xfrm xmlns:a="http://schemas.openxmlformats.org/drawingml/2006/main">
            <a:off x="723900" y="38385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735"/>
                </a:solidFill>
                <a:latin typeface="Helvetica Neue"/>
                <a:ea typeface="Helvetica Neue"/>
                <a:cs typeface="Helvetica Neue"/>
              </a:defRPr>
            </a:pPr>
            <a:r>
              <a:rPr sz="2175" b="0">
                <a:solidFill>
                  <a:srgbClr val="142735"/>
                </a:solidFill>
                <a:latin typeface="Helvetica Neue"/>
                <a:ea typeface="Helvetica Neue"/>
                <a:cs typeface="Helvetica Neue"/>
              </a:rPr>
              <a:t>Seven categories</a:t>
            </a:r>
          </a:p>
          <a:p xmlns:a="http://schemas.openxmlformats.org/drawingml/2006/main">
            <a:pPr>
              <a:defRPr sz="2175" b="0">
                <a:solidFill>
                  <a:srgbClr val="142735"/>
                </a:solidFill>
                <a:latin typeface="Helvetica Neue"/>
                <a:ea typeface="Helvetica Neue"/>
                <a:cs typeface="Helvetica Neue"/>
              </a:defRPr>
            </a:pPr>
            <a:r>
              <a:rPr sz="2175" b="0">
                <a:solidFill>
                  <a:srgbClr val="142735"/>
                </a:solidFill>
                <a:latin typeface="Helvetica Neue"/>
                <a:ea typeface="Helvetica Neue"/>
                <a:cs typeface="Helvetica Neue"/>
              </a:rPr>
              <a:t>Support general, Fileservice, O365, EOL, Software,</a:t>
            </a:r>
          </a:p>
          <a:p xmlns:a="http://schemas.openxmlformats.org/drawingml/2006/main">
            <a:pPr>
              <a:defRPr sz="2175" b="0">
                <a:solidFill>
                  <a:srgbClr val="142735"/>
                </a:solidFill>
                <a:latin typeface="Helvetica Neue"/>
                <a:ea typeface="Helvetica Neue"/>
                <a:cs typeface="Helvetica Neue"/>
              </a:defRPr>
            </a:pPr>
            <a:r>
              <a:rPr sz="2175" b="0">
                <a:solidFill>
                  <a:srgbClr val="142735"/>
                </a:solidFill>
                <a:latin typeface="Helvetica Neue"/>
                <a:ea typeface="Helvetica Neue"/>
                <a:cs typeface="Helvetica Neue"/>
              </a:rPr>
              <a:t>Active Directory, Computer-Services</a:t>
            </a:r>
          </a:p>
        </p:txBody>
      </p:sp>
      <p:sp>
        <p:nvSpPr>
          <p:cNvPr id="6" name="">
            <a:extLst xmlns:a="http://schemas.openxmlformats.org/drawingml/2006/main">
              <a:ext uri="{FF2B5EF4-FFF2-40B4-BE49-F238E27FC236}">
                <a16:creationId xmlns:a16="http://schemas.microsoft.com/office/drawing/2014/main" id="{D64E38CD-A29A-4F1E-AD85-99F61C2E05E7}"/>
              </a:ext>
            </a:extLst>
          </p:cNvPr>
          <p:cNvSpPr>
            <a:spLocks xmlns:a="http://schemas.openxmlformats.org/drawingml/2006/main" noGrp="1"/>
          </p:cNvSpPr>
          <p:nvPr/>
        </p:nvSpPr>
        <p:spPr>
          <a:xfrm xmlns:a="http://schemas.openxmlformats.org/drawingml/2006/main">
            <a:off x="685800" y="5905500"/>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170"/>
                </a:solidFill>
                <a:latin typeface="Helvetica Neue"/>
                <a:ea typeface="Helvetica Neue"/>
                <a:cs typeface="Helvetica Neue"/>
              </a:defRPr>
            </a:pPr>
            <a:r>
              <a:rPr sz="1425" b="0">
                <a:solidFill>
                  <a:srgbClr val="506170"/>
                </a:solidFill>
                <a:latin typeface="Helvetica Neue"/>
                <a:ea typeface="Helvetica Neue"/>
                <a:cs typeface="Helvetica Neue"/>
              </a:rPr>
              <a:t>The output must match one category name</a:t>
            </a:r>
          </a:p>
        </p:txBody>
      </p:sp>
    </p:spTree>
    <p:extLst>
      <p:ext uri="{BB962C8B-B14F-4D97-AF65-F5344CB8AC3E}">
        <p14:creationId xmlns:p14="http://schemas.microsoft.com/office/powerpoint/2010/main" val="10931402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51F5D3-A59B-4078-8D95-5EFD3CAAB541}"/>
              </a:ext>
            </a:extLst>
          </p:cNvPr>
          <p:cNvSpPr>
            <a:spLocks xmlns:a="http://schemas.openxmlformats.org/drawingml/2006/main" noGrp="1"/>
          </p:cNvSpPr>
          <p:nvPr/>
        </p:nvSpPr>
        <p:spPr>
          <a:xfrm xmlns:a="http://schemas.openxmlformats.org/drawingml/2006/main">
            <a:off x="647700" y="4191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735"/>
                </a:solidFill>
                <a:latin typeface="Helvetica Neue"/>
                <a:ea typeface="Helvetica Neue"/>
                <a:cs typeface="Helvetica Neue"/>
              </a:defRPr>
            </a:pPr>
            <a:r>
              <a:rPr sz="3300" b="1">
                <a:solidFill>
                  <a:srgbClr val="142735"/>
                </a:solidFill>
                <a:latin typeface="Helvetica Neue"/>
                <a:ea typeface="Helvetica Neue"/>
                <a:cs typeface="Helvetica Neue"/>
              </a:rPr>
              <a:t>One shared split</a:t>
            </a:r>
          </a:p>
        </p:txBody>
      </p:sp>
      <p:sp>
        <p:nvSpPr>
          <p:cNvPr id="2" name="">
            <a:extLst xmlns:a="http://schemas.openxmlformats.org/drawingml/2006/main">
              <a:ext uri="{FF2B5EF4-FFF2-40B4-BE49-F238E27FC236}">
                <a16:creationId xmlns:a16="http://schemas.microsoft.com/office/drawing/2014/main" id="{ED331D12-397B-4435-B592-0902D09066D7}"/>
              </a:ext>
            </a:extLst>
          </p:cNvPr>
          <p:cNvSpPr>
            <a:spLocks xmlns:a="http://schemas.openxmlformats.org/drawingml/2006/main" noGrp="1"/>
          </p:cNvSpPr>
          <p:nvPr/>
        </p:nvSpPr>
        <p:spPr>
          <a:xfrm xmlns:a="http://schemas.openxmlformats.org/drawingml/2006/main">
            <a:off x="11049000" y="63150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70"/>
                </a:solidFill>
                <a:latin typeface="Helvetica Neue"/>
                <a:ea typeface="Helvetica Neue"/>
                <a:cs typeface="Helvetica Neue"/>
              </a:defRPr>
            </a:pPr>
            <a:r>
              <a:rPr sz="1350" b="0">
                <a:solidFill>
                  <a:srgbClr val="506170"/>
                </a:solidFill>
                <a:latin typeface="Helvetica Neue"/>
                <a:ea typeface="Helvetica Neue"/>
                <a:cs typeface="Helvetica Neue"/>
              </a:rPr>
              <a:t>03</a:t>
            </a:r>
          </a:p>
        </p:txBody>
      </p:sp>
      <p:graphicFrame>
        <p:nvGraphicFramePr>
          <p:cNvPr id="7" name=""/>
          <p:cNvGraphicFramePr/>
          <p:nvPr/>
        </p:nvGraphicFramePr>
        <p:xfrm>
          <a:off xmlns:a="http://schemas.openxmlformats.org/drawingml/2006/main" x="685800" y="1619250"/>
          <a:ext xmlns:a="http://schemas.openxmlformats.org/drawingml/2006/main" cx="10820400" cy="3429000"/>
        </p:xfrm>
        <a:graphic xmlns:a="http://schemas.openxmlformats.org/drawingml/2006/main">
          <a:graphicData uri="http://schemas.openxmlformats.org/drawingml/2006/table">
            <a:tbl>
              <a:tblPr/>
              <a:tblGrid>
                <a:gridCol w="3143250"/>
                <a:gridCol w="1905000"/>
                <a:gridCol w="5772150"/>
              </a:tblGrid>
              <a:tr h="857250">
                <a:tc>
                  <a:txBody>
                    <a:bodyPr/>
                    <a:lstStyle/>
                    <a:p>
                      <a:r>
                        <a:rPr sz="1875" b="1">
                          <a:solidFill>
                            <a:srgbClr val="FFFFFF"/>
                          </a:solidFill>
                          <a:latin typeface="Helvetica Neue"/>
                          <a:ea typeface="Helvetica Neue"/>
                          <a:cs typeface="Helvetica Neue"/>
                        </a:rPr>
                        <a:t>Split</a:t>
                      </a:r>
                    </a:p>
                  </a:txBody>
                  <a:tcPr marL="91440" marR="91440" marT="45720" marB="45720">
                    <a:solidFill>
                      <a:srgbClr val="142735"/>
                    </a:solidFill>
                  </a:tcPr>
                </a:tc>
                <a:tc>
                  <a:txBody>
                    <a:bodyPr/>
                    <a:lstStyle/>
                    <a:p>
                      <a:r>
                        <a:rPr sz="1875" b="1">
                          <a:solidFill>
                            <a:srgbClr val="FFFFFF"/>
                          </a:solidFill>
                          <a:latin typeface="Helvetica Neue"/>
                          <a:ea typeface="Helvetica Neue"/>
                          <a:cs typeface="Helvetica Neue"/>
                        </a:rPr>
                        <a:t>Tickets</a:t>
                      </a:r>
                    </a:p>
                  </a:txBody>
                  <a:tcPr marL="91440" marR="91440" marT="45720" marB="45720">
                    <a:solidFill>
                      <a:srgbClr val="142735"/>
                    </a:solidFill>
                  </a:tcPr>
                </a:tc>
                <a:tc>
                  <a:txBody>
                    <a:bodyPr/>
                    <a:lstStyle/>
                    <a:p>
                      <a:r>
                        <a:rPr sz="1875" b="1">
                          <a:solidFill>
                            <a:srgbClr val="FFFFFF"/>
                          </a:solidFill>
                          <a:latin typeface="Helvetica Neue"/>
                          <a:ea typeface="Helvetica Neue"/>
                          <a:cs typeface="Helvetica Neue"/>
                        </a:rPr>
                        <a:t>Purpose</a:t>
                      </a:r>
                    </a:p>
                  </a:txBody>
                  <a:tcPr marL="91440" marR="91440" marT="45720" marB="45720">
                    <a:solidFill>
                      <a:srgbClr val="142735"/>
                    </a:solidFill>
                  </a:tcPr>
                </a:tc>
              </a:tr>
              <a:tr h="857250">
                <a:tc>
                  <a:txBody>
                    <a:bodyPr/>
                    <a:lstStyle/>
                    <a:p>
                      <a:r>
                        <a:rPr sz="1875" b="0">
                          <a:solidFill>
                            <a:srgbClr val="142735"/>
                          </a:solidFill>
                          <a:latin typeface="Helvetica Neue"/>
                          <a:ea typeface="Helvetica Neue"/>
                          <a:cs typeface="Helvetica Neue"/>
                        </a:rPr>
                        <a:t>Training</a:t>
                      </a:r>
                    </a:p>
                  </a:txBody>
                  <a:tcPr marL="91440" marR="91440" marT="45720" marB="45720">
                    <a:solidFill>
                      <a:srgbClr val="F1F5F8"/>
                    </a:solidFill>
                  </a:tcPr>
                </a:tc>
                <a:tc>
                  <a:txBody>
                    <a:bodyPr/>
                    <a:lstStyle/>
                    <a:p>
                      <a:r>
                        <a:rPr sz="1875" b="0">
                          <a:solidFill>
                            <a:srgbClr val="142735"/>
                          </a:solidFill>
                          <a:latin typeface="Helvetica Neue"/>
                          <a:ea typeface="Helvetica Neue"/>
                          <a:cs typeface="Helvetica Neue"/>
                        </a:rPr>
                        <a:t>372</a:t>
                      </a:r>
                    </a:p>
                  </a:txBody>
                  <a:tcPr marL="91440" marR="91440" marT="45720" marB="45720">
                    <a:solidFill>
                      <a:srgbClr val="F1F5F8"/>
                    </a:solidFill>
                  </a:tcPr>
                </a:tc>
                <a:tc>
                  <a:txBody>
                    <a:bodyPr/>
                    <a:lstStyle/>
                    <a:p>
                      <a:r>
                        <a:rPr sz="1875" b="0">
                          <a:solidFill>
                            <a:srgbClr val="142735"/>
                          </a:solidFill>
                          <a:latin typeface="Helvetica Neue"/>
                          <a:ea typeface="Helvetica Neue"/>
                          <a:cs typeface="Helvetica Neue"/>
                        </a:rPr>
                        <a:t>Learn the adapter</a:t>
                      </a:r>
                    </a:p>
                  </a:txBody>
                  <a:tcPr marL="91440" marR="91440" marT="45720" marB="45720">
                    <a:solidFill>
                      <a:srgbClr val="F1F5F8"/>
                    </a:solidFill>
                  </a:tcPr>
                </a:tc>
              </a:tr>
              <a:tr h="857250">
                <a:tc>
                  <a:txBody>
                    <a:bodyPr/>
                    <a:lstStyle/>
                    <a:p>
                      <a:r>
                        <a:rPr sz="1875" b="0">
                          <a:solidFill>
                            <a:srgbClr val="142735"/>
                          </a:solidFill>
                          <a:latin typeface="Helvetica Neue"/>
                          <a:ea typeface="Helvetica Neue"/>
                          <a:cs typeface="Helvetica Neue"/>
                        </a:rPr>
                        <a:t>Validation</a:t>
                      </a:r>
                    </a:p>
                  </a:txBody>
                  <a:tcPr marL="91440" marR="91440" marT="45720" marB="45720">
                    <a:solidFill>
                      <a:srgbClr val="FFFFFF"/>
                    </a:solidFill>
                  </a:tcPr>
                </a:tc>
                <a:tc>
                  <a:txBody>
                    <a:bodyPr/>
                    <a:lstStyle/>
                    <a:p>
                      <a:r>
                        <a:rPr sz="1875" b="0">
                          <a:solidFill>
                            <a:srgbClr val="142735"/>
                          </a:solidFill>
                          <a:latin typeface="Helvetica Neue"/>
                          <a:ea typeface="Helvetica Neue"/>
                          <a:cs typeface="Helvetica Neue"/>
                        </a:rPr>
                        <a:t>94</a:t>
                      </a:r>
                    </a:p>
                  </a:txBody>
                  <a:tcPr marL="91440" marR="91440" marT="45720" marB="45720">
                    <a:solidFill>
                      <a:srgbClr val="FFFFFF"/>
                    </a:solidFill>
                  </a:tcPr>
                </a:tc>
                <a:tc>
                  <a:txBody>
                    <a:bodyPr/>
                    <a:lstStyle/>
                    <a:p>
                      <a:r>
                        <a:rPr sz="1875" b="0">
                          <a:solidFill>
                            <a:srgbClr val="142735"/>
                          </a:solidFill>
                          <a:latin typeface="Helvetica Neue"/>
                          <a:ea typeface="Helvetica Neue"/>
                          <a:cs typeface="Helvetica Neue"/>
                        </a:rPr>
                        <a:t>Check learning and export</a:t>
                      </a:r>
                    </a:p>
                  </a:txBody>
                  <a:tcPr marL="91440" marR="91440" marT="45720" marB="45720">
                    <a:solidFill>
                      <a:srgbClr val="FFFFFF"/>
                    </a:solidFill>
                  </a:tcPr>
                </a:tc>
              </a:tr>
              <a:tr h="857250">
                <a:tc>
                  <a:txBody>
                    <a:bodyPr/>
                    <a:lstStyle/>
                    <a:p>
                      <a:r>
                        <a:rPr sz="1875" b="0">
                          <a:solidFill>
                            <a:srgbClr val="142735"/>
                          </a:solidFill>
                          <a:latin typeface="Helvetica Neue"/>
                          <a:ea typeface="Helvetica Neue"/>
                          <a:cs typeface="Helvetica Neue"/>
                        </a:rPr>
                        <a:t>Test</a:t>
                      </a:r>
                    </a:p>
                  </a:txBody>
                  <a:tcPr marL="91440" marR="91440" marT="45720" marB="45720">
                    <a:solidFill>
                      <a:srgbClr val="F1F5F8"/>
                    </a:solidFill>
                  </a:tcPr>
                </a:tc>
                <a:tc>
                  <a:txBody>
                    <a:bodyPr/>
                    <a:lstStyle/>
                    <a:p>
                      <a:r>
                        <a:rPr sz="1875" b="0">
                          <a:solidFill>
                            <a:srgbClr val="142735"/>
                          </a:solidFill>
                          <a:latin typeface="Helvetica Neue"/>
                          <a:ea typeface="Helvetica Neue"/>
                          <a:cs typeface="Helvetica Neue"/>
                        </a:rPr>
                        <a:t>117</a:t>
                      </a:r>
                    </a:p>
                  </a:txBody>
                  <a:tcPr marL="91440" marR="91440" marT="45720" marB="45720">
                    <a:solidFill>
                      <a:srgbClr val="F1F5F8"/>
                    </a:solidFill>
                  </a:tcPr>
                </a:tc>
                <a:tc>
                  <a:txBody>
                    <a:bodyPr/>
                    <a:lstStyle/>
                    <a:p>
                      <a:r>
                        <a:rPr sz="1875" b="0">
                          <a:solidFill>
                            <a:srgbClr val="142735"/>
                          </a:solidFill>
                          <a:latin typeface="Helvetica Neue"/>
                          <a:ea typeface="Helvetica Neue"/>
                          <a:cs typeface="Helvetica Neue"/>
                        </a:rPr>
                        <a:t>Measure final performance</a:t>
                      </a:r>
                    </a:p>
                  </a:txBody>
                  <a:tcPr marL="91440" marR="91440" marT="45720" marB="45720">
                    <a:solidFill>
                      <a:srgbClr val="F1F5F8"/>
                    </a:solidFill>
                  </a:tcPr>
                </a:tc>
              </a:tr>
            </a:tbl>
          </a:graphicData>
        </a:graphic>
      </p:graphicFrame>
      <p:sp>
        <p:nvSpPr>
          <p:cNvPr id="4" name="">
            <a:extLst xmlns:a="http://schemas.openxmlformats.org/drawingml/2006/main">
              <a:ext uri="{FF2B5EF4-FFF2-40B4-BE49-F238E27FC236}">
                <a16:creationId xmlns:a16="http://schemas.microsoft.com/office/drawing/2014/main" id="{84DB8D9A-32D1-4A6D-9472-8BE96C7CBBF3}"/>
              </a:ext>
            </a:extLst>
          </p:cNvPr>
          <p:cNvSpPr>
            <a:spLocks xmlns:a="http://schemas.openxmlformats.org/drawingml/2006/main" noGrp="1"/>
          </p:cNvSpPr>
          <p:nvPr/>
        </p:nvSpPr>
        <p:spPr>
          <a:xfrm xmlns:a="http://schemas.openxmlformats.org/drawingml/2006/main">
            <a:off x="685800" y="5905500"/>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170"/>
                </a:solidFill>
                <a:latin typeface="Helvetica Neue"/>
                <a:ea typeface="Helvetica Neue"/>
                <a:cs typeface="Helvetica Neue"/>
              </a:defRPr>
            </a:pPr>
            <a:r>
              <a:rPr sz="1425" b="0">
                <a:solidFill>
                  <a:srgbClr val="506170"/>
                </a:solidFill>
                <a:latin typeface="Helvetica Neue"/>
                <a:ea typeface="Helvetica Neue"/>
                <a:cs typeface="Helvetica Neue"/>
              </a:rPr>
              <a:t>585 source tickets; two near-duplicate training examples excluded</a:t>
            </a:r>
          </a:p>
        </p:txBody>
      </p:sp>
    </p:spTree>
    <p:extLst>
      <p:ext uri="{BB962C8B-B14F-4D97-AF65-F5344CB8AC3E}">
        <p14:creationId xmlns:p14="http://schemas.microsoft.com/office/powerpoint/2010/main" val="3028951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EFD3E66-FF5F-4530-86CE-765F6AC3882F}"/>
              </a:ext>
            </a:extLst>
          </p:cNvPr>
          <p:cNvSpPr>
            <a:spLocks xmlns:a="http://schemas.openxmlformats.org/drawingml/2006/main" noGrp="1"/>
          </p:cNvSpPr>
          <p:nvPr/>
        </p:nvSpPr>
        <p:spPr>
          <a:xfrm xmlns:a="http://schemas.openxmlformats.org/drawingml/2006/main">
            <a:off x="647700" y="4191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735"/>
                </a:solidFill>
                <a:latin typeface="Helvetica Neue"/>
                <a:ea typeface="Helvetica Neue"/>
                <a:cs typeface="Helvetica Neue"/>
              </a:defRPr>
            </a:pPr>
            <a:r>
              <a:rPr sz="3300" b="1">
                <a:solidFill>
                  <a:srgbClr val="142735"/>
                </a:solidFill>
                <a:latin typeface="Helvetica Neue"/>
                <a:ea typeface="Helvetica Neue"/>
                <a:cs typeface="Helvetica Neue"/>
              </a:rPr>
              <a:t>Two training setups</a:t>
            </a:r>
          </a:p>
        </p:txBody>
      </p:sp>
      <p:sp>
        <p:nvSpPr>
          <p:cNvPr id="2" name="">
            <a:extLst xmlns:a="http://schemas.openxmlformats.org/drawingml/2006/main">
              <a:ext uri="{FF2B5EF4-FFF2-40B4-BE49-F238E27FC236}">
                <a16:creationId xmlns:a16="http://schemas.microsoft.com/office/drawing/2014/main" id="{17EC3087-5068-41E7-820E-7DD0583801C3}"/>
              </a:ext>
            </a:extLst>
          </p:cNvPr>
          <p:cNvSpPr>
            <a:spLocks xmlns:a="http://schemas.openxmlformats.org/drawingml/2006/main" noGrp="1"/>
          </p:cNvSpPr>
          <p:nvPr/>
        </p:nvSpPr>
        <p:spPr>
          <a:xfrm xmlns:a="http://schemas.openxmlformats.org/drawingml/2006/main">
            <a:off x="11049000" y="63150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70"/>
                </a:solidFill>
                <a:latin typeface="Helvetica Neue"/>
                <a:ea typeface="Helvetica Neue"/>
                <a:cs typeface="Helvetica Neue"/>
              </a:defRPr>
            </a:pPr>
            <a:r>
              <a:rPr sz="1350" b="0">
                <a:solidFill>
                  <a:srgbClr val="506170"/>
                </a:solidFill>
                <a:latin typeface="Helvetica Neue"/>
                <a:ea typeface="Helvetica Neue"/>
                <a:cs typeface="Helvetica Neue"/>
              </a:rPr>
              <a:t>04</a:t>
            </a:r>
          </a:p>
        </p:txBody>
      </p:sp>
      <p:graphicFrame>
        <p:nvGraphicFramePr>
          <p:cNvPr id="7" name=""/>
          <p:cNvGraphicFramePr/>
          <p:nvPr/>
        </p:nvGraphicFramePr>
        <p:xfrm>
          <a:off xmlns:a="http://schemas.openxmlformats.org/drawingml/2006/main" x="685800" y="1524000"/>
          <a:ext xmlns:a="http://schemas.openxmlformats.org/drawingml/2006/main" cx="10820400" cy="3667125"/>
        </p:xfrm>
        <a:graphic xmlns:a="http://schemas.openxmlformats.org/drawingml/2006/main">
          <a:graphicData uri="http://schemas.openxmlformats.org/drawingml/2006/table">
            <a:tbl>
              <a:tblPr/>
              <a:tblGrid>
                <a:gridCol w="3143250"/>
                <a:gridCol w="3838575"/>
                <a:gridCol w="3838575"/>
              </a:tblGrid>
              <a:tr h="733425">
                <a:tc>
                  <a:txBody>
                    <a:bodyPr/>
                    <a:lstStyle/>
                    <a:p>
                      <a:r>
                        <a:rPr sz="1875" b="1">
                          <a:solidFill>
                            <a:srgbClr val="FFFFFF"/>
                          </a:solidFill>
                          <a:latin typeface="Helvetica Neue"/>
                          <a:ea typeface="Helvetica Neue"/>
                          <a:cs typeface="Helvetica Neue"/>
                        </a:rPr>
                        <a:t>Setting</a:t>
                      </a:r>
                    </a:p>
                  </a:txBody>
                  <a:tcPr marL="91440" marR="91440" marT="45720" marB="45720">
                    <a:solidFill>
                      <a:srgbClr val="142735"/>
                    </a:solidFill>
                  </a:tcPr>
                </a:tc>
                <a:tc>
                  <a:txBody>
                    <a:bodyPr/>
                    <a:lstStyle/>
                    <a:p>
                      <a:r>
                        <a:rPr sz="1875" b="1">
                          <a:solidFill>
                            <a:srgbClr val="FFFFFF"/>
                          </a:solidFill>
                          <a:latin typeface="Helvetica Neue"/>
                          <a:ea typeface="Helvetica Neue"/>
                          <a:cs typeface="Helvetica Neue"/>
                        </a:rPr>
                        <a:t>Mac Mini M4</a:t>
                      </a:r>
                    </a:p>
                  </a:txBody>
                  <a:tcPr marL="91440" marR="91440" marT="45720" marB="45720">
                    <a:solidFill>
                      <a:srgbClr val="142735"/>
                    </a:solidFill>
                  </a:tcPr>
                </a:tc>
                <a:tc>
                  <a:txBody>
                    <a:bodyPr/>
                    <a:lstStyle/>
                    <a:p>
                      <a:r>
                        <a:rPr sz="1875" b="1">
                          <a:solidFill>
                            <a:srgbClr val="FFFFFF"/>
                          </a:solidFill>
                          <a:latin typeface="Helvetica Neue"/>
                          <a:ea typeface="Helvetica Neue"/>
                          <a:cs typeface="Helvetica Neue"/>
                        </a:rPr>
                        <a:t>Fireworks</a:t>
                      </a:r>
                    </a:p>
                  </a:txBody>
                  <a:tcPr marL="91440" marR="91440" marT="45720" marB="45720">
                    <a:solidFill>
                      <a:srgbClr val="142735"/>
                    </a:solidFill>
                  </a:tcPr>
                </a:tc>
              </a:tr>
              <a:tr h="733425">
                <a:tc>
                  <a:txBody>
                    <a:bodyPr/>
                    <a:lstStyle/>
                    <a:p>
                      <a:r>
                        <a:rPr sz="1875" b="0">
                          <a:solidFill>
                            <a:srgbClr val="142735"/>
                          </a:solidFill>
                          <a:latin typeface="Helvetica Neue"/>
                          <a:ea typeface="Helvetica Neue"/>
                          <a:cs typeface="Helvetica Neue"/>
                        </a:rPr>
                        <a:t>Model</a:t>
                      </a:r>
                    </a:p>
                  </a:txBody>
                  <a:tcPr marL="91440" marR="91440" marT="45720" marB="45720">
                    <a:solidFill>
                      <a:srgbClr val="F1F5F8"/>
                    </a:solidFill>
                  </a:tcPr>
                </a:tc>
                <a:tc>
                  <a:txBody>
                    <a:bodyPr/>
                    <a:lstStyle/>
                    <a:p>
                      <a:r>
                        <a:rPr sz="1875" b="0">
                          <a:solidFill>
                            <a:srgbClr val="142735"/>
                          </a:solidFill>
                          <a:latin typeface="Helvetica Neue"/>
                          <a:ea typeface="Helvetica Neue"/>
                          <a:cs typeface="Helvetica Neue"/>
                        </a:rPr>
                        <a:t>Qwen 4B Instruct</a:t>
                      </a:r>
                    </a:p>
                  </a:txBody>
                  <a:tcPr marL="91440" marR="91440" marT="45720" marB="45720">
                    <a:solidFill>
                      <a:srgbClr val="F1F5F8"/>
                    </a:solidFill>
                  </a:tcPr>
                </a:tc>
                <a:tc>
                  <a:txBody>
                    <a:bodyPr/>
                    <a:lstStyle/>
                    <a:p>
                      <a:r>
                        <a:rPr sz="1875" b="0">
                          <a:solidFill>
                            <a:srgbClr val="142735"/>
                          </a:solidFill>
                          <a:latin typeface="Helvetica Neue"/>
                          <a:ea typeface="Helvetica Neue"/>
                          <a:cs typeface="Helvetica Neue"/>
                        </a:rPr>
                        <a:t>Llama 3B Instruct</a:t>
                      </a:r>
                    </a:p>
                  </a:txBody>
                  <a:tcPr marL="91440" marR="91440" marT="45720" marB="45720">
                    <a:solidFill>
                      <a:srgbClr val="F1F5F8"/>
                    </a:solidFill>
                  </a:tcPr>
                </a:tc>
              </a:tr>
              <a:tr h="733425">
                <a:tc>
                  <a:txBody>
                    <a:bodyPr/>
                    <a:lstStyle/>
                    <a:p>
                      <a:r>
                        <a:rPr sz="1875" b="0">
                          <a:solidFill>
                            <a:srgbClr val="142735"/>
                          </a:solidFill>
                          <a:latin typeface="Helvetica Neue"/>
                          <a:ea typeface="Helvetica Neue"/>
                          <a:cs typeface="Helvetica Neue"/>
                        </a:rPr>
                        <a:t>Method</a:t>
                      </a:r>
                    </a:p>
                  </a:txBody>
                  <a:tcPr marL="91440" marR="91440" marT="45720" marB="45720">
                    <a:solidFill>
                      <a:srgbClr val="FFFFFF"/>
                    </a:solidFill>
                  </a:tcPr>
                </a:tc>
                <a:tc>
                  <a:txBody>
                    <a:bodyPr/>
                    <a:lstStyle/>
                    <a:p>
                      <a:r>
                        <a:rPr sz="1875" b="0">
                          <a:solidFill>
                            <a:srgbClr val="142735"/>
                          </a:solidFill>
                          <a:latin typeface="Helvetica Neue"/>
                          <a:ea typeface="Helvetica Neue"/>
                          <a:cs typeface="Helvetica Neue"/>
                        </a:rPr>
                        <a:t>MLX 4-bit QLoRA</a:t>
                      </a:r>
                    </a:p>
                  </a:txBody>
                  <a:tcPr marL="91440" marR="91440" marT="45720" marB="45720">
                    <a:solidFill>
                      <a:srgbClr val="FFFFFF"/>
                    </a:solidFill>
                  </a:tcPr>
                </a:tc>
                <a:tc>
                  <a:txBody>
                    <a:bodyPr/>
                    <a:lstStyle/>
                    <a:p>
                      <a:r>
                        <a:rPr sz="1875" b="0">
                          <a:solidFill>
                            <a:srgbClr val="142735"/>
                          </a:solidFill>
                          <a:latin typeface="Helvetica Neue"/>
                          <a:ea typeface="Helvetica Neue"/>
                          <a:cs typeface="Helvetica Neue"/>
                        </a:rPr>
                        <a:t>H200 LoRA</a:t>
                      </a:r>
                    </a:p>
                  </a:txBody>
                  <a:tcPr marL="91440" marR="91440" marT="45720" marB="45720">
                    <a:solidFill>
                      <a:srgbClr val="FFFFFF"/>
                    </a:solidFill>
                  </a:tcPr>
                </a:tc>
              </a:tr>
              <a:tr h="733425">
                <a:tc>
                  <a:txBody>
                    <a:bodyPr/>
                    <a:lstStyle/>
                    <a:p>
                      <a:r>
                        <a:rPr sz="1875" b="0">
                          <a:solidFill>
                            <a:srgbClr val="142735"/>
                          </a:solidFill>
                          <a:latin typeface="Helvetica Neue"/>
                          <a:ea typeface="Helvetica Neue"/>
                          <a:cs typeface="Helvetica Neue"/>
                        </a:rPr>
                        <a:t>Epochs / updates</a:t>
                      </a:r>
                    </a:p>
                  </a:txBody>
                  <a:tcPr marL="91440" marR="91440" marT="45720" marB="45720">
                    <a:solidFill>
                      <a:srgbClr val="F1F5F8"/>
                    </a:solidFill>
                  </a:tcPr>
                </a:tc>
                <a:tc>
                  <a:txBody>
                    <a:bodyPr/>
                    <a:lstStyle/>
                    <a:p>
                      <a:r>
                        <a:rPr sz="1875" b="0">
                          <a:solidFill>
                            <a:srgbClr val="142735"/>
                          </a:solidFill>
                          <a:latin typeface="Helvetica Neue"/>
                          <a:ea typeface="Helvetica Neue"/>
                          <a:cs typeface="Helvetica Neue"/>
                        </a:rPr>
                        <a:t>3 / 279</a:t>
                      </a:r>
                    </a:p>
                  </a:txBody>
                  <a:tcPr marL="91440" marR="91440" marT="45720" marB="45720">
                    <a:solidFill>
                      <a:srgbClr val="F1F5F8"/>
                    </a:solidFill>
                  </a:tcPr>
                </a:tc>
                <a:tc>
                  <a:txBody>
                    <a:bodyPr/>
                    <a:lstStyle/>
                    <a:p>
                      <a:r>
                        <a:rPr sz="1875" b="0">
                          <a:solidFill>
                            <a:srgbClr val="142735"/>
                          </a:solidFill>
                          <a:latin typeface="Helvetica Neue"/>
                          <a:ea typeface="Helvetica Neue"/>
                          <a:cs typeface="Helvetica Neue"/>
                        </a:rPr>
                        <a:t>3 / 279</a:t>
                      </a:r>
                    </a:p>
                  </a:txBody>
                  <a:tcPr marL="91440" marR="91440" marT="45720" marB="45720">
                    <a:solidFill>
                      <a:srgbClr val="F1F5F8"/>
                    </a:solidFill>
                  </a:tcPr>
                </a:tc>
              </a:tr>
              <a:tr h="733425">
                <a:tc>
                  <a:txBody>
                    <a:bodyPr/>
                    <a:lstStyle/>
                    <a:p>
                      <a:r>
                        <a:rPr sz="1875" b="0">
                          <a:solidFill>
                            <a:srgbClr val="142735"/>
                          </a:solidFill>
                          <a:latin typeface="Helvetica Neue"/>
                          <a:ea typeface="Helvetica Neue"/>
                          <a:cs typeface="Helvetica Neue"/>
                        </a:rPr>
                        <a:t>Rank / learning rate</a:t>
                      </a:r>
                    </a:p>
                  </a:txBody>
                  <a:tcPr marL="91440" marR="91440" marT="45720" marB="45720">
                    <a:solidFill>
                      <a:srgbClr val="FFFFFF"/>
                    </a:solidFill>
                  </a:tcPr>
                </a:tc>
                <a:tc>
                  <a:txBody>
                    <a:bodyPr/>
                    <a:lstStyle/>
                    <a:p>
                      <a:r>
                        <a:rPr sz="1875" b="0">
                          <a:solidFill>
                            <a:srgbClr val="142735"/>
                          </a:solidFill>
                          <a:latin typeface="Helvetica Neue"/>
                          <a:ea typeface="Helvetica Neue"/>
                          <a:cs typeface="Helvetica Neue"/>
                        </a:rPr>
                        <a:t>8 / 0.0001</a:t>
                      </a:r>
                    </a:p>
                  </a:txBody>
                  <a:tcPr marL="91440" marR="91440" marT="45720" marB="45720">
                    <a:solidFill>
                      <a:srgbClr val="FFFFFF"/>
                    </a:solidFill>
                  </a:tcPr>
                </a:tc>
                <a:tc>
                  <a:txBody>
                    <a:bodyPr/>
                    <a:lstStyle/>
                    <a:p>
                      <a:r>
                        <a:rPr sz="1875" b="0">
                          <a:solidFill>
                            <a:srgbClr val="142735"/>
                          </a:solidFill>
                          <a:latin typeface="Helvetica Neue"/>
                          <a:ea typeface="Helvetica Neue"/>
                          <a:cs typeface="Helvetica Neue"/>
                        </a:rPr>
                        <a:t>8 / 0.0001</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65E0FAA-663D-463C-BC95-C69F76C68998}"/>
              </a:ext>
            </a:extLst>
          </p:cNvPr>
          <p:cNvSpPr>
            <a:spLocks xmlns:a="http://schemas.openxmlformats.org/drawingml/2006/main" noGrp="1"/>
          </p:cNvSpPr>
          <p:nvPr/>
        </p:nvSpPr>
        <p:spPr>
          <a:xfrm xmlns:a="http://schemas.openxmlformats.org/drawingml/2006/main">
            <a:off x="685800" y="5905500"/>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170"/>
                </a:solidFill>
                <a:latin typeface="Helvetica Neue"/>
                <a:ea typeface="Helvetica Neue"/>
                <a:cs typeface="Helvetica Neue"/>
              </a:defRPr>
            </a:pPr>
            <a:r>
              <a:rPr sz="1425" b="0">
                <a:solidFill>
                  <a:srgbClr val="506170"/>
                </a:solidFill>
                <a:latin typeface="Helvetica Neue"/>
                <a:ea typeface="Helvetica Neue"/>
                <a:cs typeface="Helvetica Neue"/>
              </a:rPr>
              <a:t>Same data and effective batch of four; different model families and precision</a:t>
            </a:r>
          </a:p>
        </p:txBody>
      </p:sp>
    </p:spTree>
    <p:extLst>
      <p:ext uri="{BB962C8B-B14F-4D97-AF65-F5344CB8AC3E}">
        <p14:creationId xmlns:p14="http://schemas.microsoft.com/office/powerpoint/2010/main" val="15346782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9553A1-F4B9-40CB-AEDA-9FE55CBB7B49}"/>
              </a:ext>
            </a:extLst>
          </p:cNvPr>
          <p:cNvSpPr>
            <a:spLocks xmlns:a="http://schemas.openxmlformats.org/drawingml/2006/main" noGrp="1"/>
          </p:cNvSpPr>
          <p:nvPr/>
        </p:nvSpPr>
        <p:spPr>
          <a:xfrm xmlns:a="http://schemas.openxmlformats.org/drawingml/2006/main">
            <a:off x="647700" y="4191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735"/>
                </a:solidFill>
                <a:latin typeface="Helvetica Neue"/>
                <a:ea typeface="Helvetica Neue"/>
                <a:cs typeface="Helvetica Neue"/>
              </a:defRPr>
            </a:pPr>
            <a:r>
              <a:rPr sz="3300" b="1">
                <a:solidFill>
                  <a:srgbClr val="142735"/>
                </a:solidFill>
                <a:latin typeface="Helvetica Neue"/>
                <a:ea typeface="Helvetica Neue"/>
                <a:cs typeface="Helvetica Neue"/>
              </a:rPr>
              <a:t>Merging needs a validation check</a:t>
            </a:r>
          </a:p>
        </p:txBody>
      </p:sp>
      <p:sp>
        <p:nvSpPr>
          <p:cNvPr id="2" name="">
            <a:extLst xmlns:a="http://schemas.openxmlformats.org/drawingml/2006/main">
              <a:ext uri="{FF2B5EF4-FFF2-40B4-BE49-F238E27FC236}">
                <a16:creationId xmlns:a16="http://schemas.microsoft.com/office/drawing/2014/main" id="{D4A40A3E-5C20-4292-B775-2AB99001075E}"/>
              </a:ext>
            </a:extLst>
          </p:cNvPr>
          <p:cNvSpPr>
            <a:spLocks xmlns:a="http://schemas.openxmlformats.org/drawingml/2006/main" noGrp="1"/>
          </p:cNvSpPr>
          <p:nvPr/>
        </p:nvSpPr>
        <p:spPr>
          <a:xfrm xmlns:a="http://schemas.openxmlformats.org/drawingml/2006/main">
            <a:off x="11049000" y="63150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70"/>
                </a:solidFill>
                <a:latin typeface="Helvetica Neue"/>
                <a:ea typeface="Helvetica Neue"/>
                <a:cs typeface="Helvetica Neue"/>
              </a:defRPr>
            </a:pPr>
            <a:r>
              <a:rPr sz="1350" b="0">
                <a:solidFill>
                  <a:srgbClr val="506170"/>
                </a:solidFill>
                <a:latin typeface="Helvetica Neue"/>
                <a:ea typeface="Helvetica Neue"/>
                <a:cs typeface="Helvetica Neue"/>
              </a:rPr>
              <a:t>05</a:t>
            </a:r>
          </a:p>
        </p:txBody>
      </p:sp>
      <p:graphicFrame>
        <p:nvGraphicFramePr>
          <p:cNvPr id="7" name="Chart"/>
          <p:cNvGraphicFramePr/>
          <p:nvPr/>
        </p:nvGraphicFramePr>
        <p:xfrm>
          <a:off xmlns:a="http://schemas.openxmlformats.org/drawingml/2006/main" x="781050" y="1581150"/>
          <a:ext xmlns:a="http://schemas.openxmlformats.org/drawingml/2006/main" cx="10477500" cy="3857625"/>
        </p:xfrm>
        <a:graphic xmlns:a="http://schemas.openxmlformats.org/drawingml/2006/main">
          <a:graphicData uri="http://schemas.openxmlformats.org/drawingml/2006/chart">
            <c:chart xmlns:r="http://schemas.openxmlformats.org/officeDocument/2006/relationships" xmlns:c="http://schemas.openxmlformats.org/drawingml/2006/chart" r:id="R95a76a7b126e4c57"/>
          </a:graphicData>
        </a:graphic>
      </p:graphicFrame>
      <p:sp>
        <p:nvSpPr>
          <p:cNvPr id="4" name="">
            <a:extLst xmlns:a="http://schemas.openxmlformats.org/drawingml/2006/main">
              <a:ext uri="{FF2B5EF4-FFF2-40B4-BE49-F238E27FC236}">
                <a16:creationId xmlns:a16="http://schemas.microsoft.com/office/drawing/2014/main" id="{62E76064-F47E-4801-93BC-E057D0B2F479}"/>
              </a:ext>
            </a:extLst>
          </p:cNvPr>
          <p:cNvSpPr>
            <a:spLocks xmlns:a="http://schemas.openxmlformats.org/drawingml/2006/main" noGrp="1"/>
          </p:cNvSpPr>
          <p:nvPr/>
        </p:nvSpPr>
        <p:spPr>
          <a:xfrm xmlns:a="http://schemas.openxmlformats.org/drawingml/2006/main">
            <a:off x="685800" y="5905500"/>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170"/>
                </a:solidFill>
                <a:latin typeface="Helvetica Neue"/>
                <a:ea typeface="Helvetica Neue"/>
                <a:cs typeface="Helvetica Neue"/>
              </a:defRPr>
            </a:pPr>
            <a:r>
              <a:rPr sz="1425" b="0">
                <a:solidFill>
                  <a:srgbClr val="506170"/>
                </a:solidFill>
                <a:latin typeface="Helvetica Neue"/>
                <a:ea typeface="Helvetica Neue"/>
                <a:cs typeface="Helvetica Neue"/>
              </a:rPr>
              <a:t>94 validation tickets. Recommended export: 8-bit projections with unchanged 4-bit embeddings</a:t>
            </a:r>
          </a:p>
        </p:txBody>
      </p:sp>
    </p:spTree>
    <p:extLst>
      <p:ext uri="{BB962C8B-B14F-4D97-AF65-F5344CB8AC3E}">
        <p14:creationId xmlns:p14="http://schemas.microsoft.com/office/powerpoint/2010/main" val="3279180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8B92D7-B45C-4B21-9179-C17D295494C7}"/>
              </a:ext>
            </a:extLst>
          </p:cNvPr>
          <p:cNvSpPr>
            <a:spLocks xmlns:a="http://schemas.openxmlformats.org/drawingml/2006/main" noGrp="1"/>
          </p:cNvSpPr>
          <p:nvPr/>
        </p:nvSpPr>
        <p:spPr>
          <a:xfrm xmlns:a="http://schemas.openxmlformats.org/drawingml/2006/main">
            <a:off x="647700" y="4191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735"/>
                </a:solidFill>
                <a:latin typeface="Helvetica Neue"/>
                <a:ea typeface="Helvetica Neue"/>
                <a:cs typeface="Helvetica Neue"/>
              </a:defRPr>
            </a:pPr>
            <a:r>
              <a:rPr sz="3300" b="1">
                <a:solidFill>
                  <a:srgbClr val="142735"/>
                </a:solidFill>
                <a:latin typeface="Helvetica Neue"/>
                <a:ea typeface="Helvetica Neue"/>
                <a:cs typeface="Helvetica Neue"/>
              </a:rPr>
              <a:t>Fine-tuning improved both models</a:t>
            </a:r>
          </a:p>
        </p:txBody>
      </p:sp>
      <p:sp>
        <p:nvSpPr>
          <p:cNvPr id="2" name="">
            <a:extLst xmlns:a="http://schemas.openxmlformats.org/drawingml/2006/main">
              <a:ext uri="{FF2B5EF4-FFF2-40B4-BE49-F238E27FC236}">
                <a16:creationId xmlns:a16="http://schemas.microsoft.com/office/drawing/2014/main" id="{6B6F88CE-8878-457D-BD6E-048259774031}"/>
              </a:ext>
            </a:extLst>
          </p:cNvPr>
          <p:cNvSpPr>
            <a:spLocks xmlns:a="http://schemas.openxmlformats.org/drawingml/2006/main" noGrp="1"/>
          </p:cNvSpPr>
          <p:nvPr/>
        </p:nvSpPr>
        <p:spPr>
          <a:xfrm xmlns:a="http://schemas.openxmlformats.org/drawingml/2006/main">
            <a:off x="11049000" y="63150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70"/>
                </a:solidFill>
                <a:latin typeface="Helvetica Neue"/>
                <a:ea typeface="Helvetica Neue"/>
                <a:cs typeface="Helvetica Neue"/>
              </a:defRPr>
            </a:pPr>
            <a:r>
              <a:rPr sz="1350" b="0">
                <a:solidFill>
                  <a:srgbClr val="506170"/>
                </a:solidFill>
                <a:latin typeface="Helvetica Neue"/>
                <a:ea typeface="Helvetica Neue"/>
                <a:cs typeface="Helvetica Neue"/>
              </a:rPr>
              <a:t>06</a:t>
            </a:r>
          </a:p>
        </p:txBody>
      </p:sp>
      <p:graphicFrame>
        <p:nvGraphicFramePr>
          <p:cNvPr id="7" name="Chart"/>
          <p:cNvGraphicFramePr/>
          <p:nvPr/>
        </p:nvGraphicFramePr>
        <p:xfrm>
          <a:off xmlns:a="http://schemas.openxmlformats.org/drawingml/2006/main" x="781050" y="1581150"/>
          <a:ext xmlns:a="http://schemas.openxmlformats.org/drawingml/2006/main" cx="10477500" cy="3857625"/>
        </p:xfrm>
        <a:graphic xmlns:a="http://schemas.openxmlformats.org/drawingml/2006/main">
          <a:graphicData uri="http://schemas.openxmlformats.org/drawingml/2006/chart">
            <c:chart xmlns:r="http://schemas.openxmlformats.org/officeDocument/2006/relationships" xmlns:c="http://schemas.openxmlformats.org/drawingml/2006/chart" r:id="R6f877b159f8c4a36"/>
          </a:graphicData>
        </a:graphic>
      </p:graphicFrame>
      <p:sp>
        <p:nvSpPr>
          <p:cNvPr id="4" name="">
            <a:extLst xmlns:a="http://schemas.openxmlformats.org/drawingml/2006/main">
              <a:ext uri="{FF2B5EF4-FFF2-40B4-BE49-F238E27FC236}">
                <a16:creationId xmlns:a16="http://schemas.microsoft.com/office/drawing/2014/main" id="{883739A0-2637-4C7F-85E2-6E8A286FB496}"/>
              </a:ext>
            </a:extLst>
          </p:cNvPr>
          <p:cNvSpPr>
            <a:spLocks xmlns:a="http://schemas.openxmlformats.org/drawingml/2006/main" noGrp="1"/>
          </p:cNvSpPr>
          <p:nvPr/>
        </p:nvSpPr>
        <p:spPr>
          <a:xfrm xmlns:a="http://schemas.openxmlformats.org/drawingml/2006/main">
            <a:off x="685800" y="5905500"/>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170"/>
                </a:solidFill>
                <a:latin typeface="Helvetica Neue"/>
                <a:ea typeface="Helvetica Neue"/>
                <a:cs typeface="Helvetica Neue"/>
              </a:defRPr>
            </a:pPr>
            <a:r>
              <a:rPr sz="1425" b="0">
                <a:solidFill>
                  <a:srgbClr val="506170"/>
                </a:solidFill>
                <a:latin typeface="Helvetica Neue"/>
                <a:ea typeface="Helvetica Neue"/>
                <a:cs typeface="Helvetica Neue"/>
              </a:rPr>
              <a:t>Same 117 test tickets. Tuned macro F1: 0.794 on Mac and 0.810 on Fireworks</a:t>
            </a:r>
          </a:p>
        </p:txBody>
      </p:sp>
    </p:spTree>
    <p:extLst>
      <p:ext uri="{BB962C8B-B14F-4D97-AF65-F5344CB8AC3E}">
        <p14:creationId xmlns:p14="http://schemas.microsoft.com/office/powerpoint/2010/main" val="19879120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33688E-91E9-426D-8038-7855324B7525}"/>
              </a:ext>
            </a:extLst>
          </p:cNvPr>
          <p:cNvSpPr>
            <a:spLocks xmlns:a="http://schemas.openxmlformats.org/drawingml/2006/main" noGrp="1"/>
          </p:cNvSpPr>
          <p:nvPr/>
        </p:nvSpPr>
        <p:spPr>
          <a:xfrm xmlns:a="http://schemas.openxmlformats.org/drawingml/2006/main">
            <a:off x="647700" y="4191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735"/>
                </a:solidFill>
                <a:latin typeface="Helvetica Neue"/>
                <a:ea typeface="Helvetica Neue"/>
                <a:cs typeface="Helvetica Neue"/>
              </a:defRPr>
            </a:pPr>
            <a:r>
              <a:rPr sz="3300" b="1">
                <a:solidFill>
                  <a:srgbClr val="142735"/>
                </a:solidFill>
                <a:latin typeface="Helvetica Neue"/>
                <a:ea typeface="Helvetica Neue"/>
                <a:cs typeface="Helvetica Neue"/>
              </a:rPr>
              <a:t>One ticket separates the final scores</a:t>
            </a:r>
          </a:p>
        </p:txBody>
      </p:sp>
      <p:sp>
        <p:nvSpPr>
          <p:cNvPr id="2" name="">
            <a:extLst xmlns:a="http://schemas.openxmlformats.org/drawingml/2006/main">
              <a:ext uri="{FF2B5EF4-FFF2-40B4-BE49-F238E27FC236}">
                <a16:creationId xmlns:a16="http://schemas.microsoft.com/office/drawing/2014/main" id="{7F415D2E-D4EF-4046-91D3-570AB7DF0EAE}"/>
              </a:ext>
            </a:extLst>
          </p:cNvPr>
          <p:cNvSpPr>
            <a:spLocks xmlns:a="http://schemas.openxmlformats.org/drawingml/2006/main" noGrp="1"/>
          </p:cNvSpPr>
          <p:nvPr/>
        </p:nvSpPr>
        <p:spPr>
          <a:xfrm xmlns:a="http://schemas.openxmlformats.org/drawingml/2006/main">
            <a:off x="11049000" y="63150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70"/>
                </a:solidFill>
                <a:latin typeface="Helvetica Neue"/>
                <a:ea typeface="Helvetica Neue"/>
                <a:cs typeface="Helvetica Neue"/>
              </a:defRPr>
            </a:pPr>
            <a:r>
              <a:rPr sz="1350" b="0">
                <a:solidFill>
                  <a:srgbClr val="506170"/>
                </a:solidFill>
                <a:latin typeface="Helvetica Neue"/>
                <a:ea typeface="Helvetica Neue"/>
                <a:cs typeface="Helvetica Neue"/>
              </a:rPr>
              <a:t>07</a:t>
            </a:r>
          </a:p>
        </p:txBody>
      </p:sp>
      <p:graphicFrame>
        <p:nvGraphicFramePr>
          <p:cNvPr id="7" name=""/>
          <p:cNvGraphicFramePr/>
          <p:nvPr/>
        </p:nvGraphicFramePr>
        <p:xfrm>
          <a:off xmlns:a="http://schemas.openxmlformats.org/drawingml/2006/main" x="685800" y="1504950"/>
          <a:ext xmlns:a="http://schemas.openxmlformats.org/drawingml/2006/main" cx="10820400" cy="3600450"/>
        </p:xfrm>
        <a:graphic xmlns:a="http://schemas.openxmlformats.org/drawingml/2006/main">
          <a:graphicData uri="http://schemas.openxmlformats.org/drawingml/2006/table">
            <a:tbl>
              <a:tblPr/>
              <a:tblGrid>
                <a:gridCol w="5105400"/>
                <a:gridCol w="2857500"/>
                <a:gridCol w="2857500"/>
              </a:tblGrid>
              <a:tr h="720090">
                <a:tc>
                  <a:txBody>
                    <a:bodyPr/>
                    <a:lstStyle/>
                    <a:p>
                      <a:r>
                        <a:rPr sz="1875" b="1">
                          <a:solidFill>
                            <a:srgbClr val="FFFFFF"/>
                          </a:solidFill>
                          <a:latin typeface="Helvetica Neue"/>
                          <a:ea typeface="Helvetica Neue"/>
                          <a:cs typeface="Helvetica Neue"/>
                        </a:rPr>
                        <a:t>Check</a:t>
                      </a:r>
                    </a:p>
                  </a:txBody>
                  <a:tcPr marL="91440" marR="91440" marT="45720" marB="45720">
                    <a:solidFill>
                      <a:srgbClr val="142735"/>
                    </a:solidFill>
                  </a:tcPr>
                </a:tc>
                <a:tc>
                  <a:txBody>
                    <a:bodyPr/>
                    <a:lstStyle/>
                    <a:p>
                      <a:r>
                        <a:rPr sz="1875" b="1">
                          <a:solidFill>
                            <a:srgbClr val="FFFFFF"/>
                          </a:solidFill>
                          <a:latin typeface="Helvetica Neue"/>
                          <a:ea typeface="Helvetica Neue"/>
                          <a:cs typeface="Helvetica Neue"/>
                        </a:rPr>
                        <a:t>Mac</a:t>
                      </a:r>
                    </a:p>
                  </a:txBody>
                  <a:tcPr marL="91440" marR="91440" marT="45720" marB="45720">
                    <a:solidFill>
                      <a:srgbClr val="142735"/>
                    </a:solidFill>
                  </a:tcPr>
                </a:tc>
                <a:tc>
                  <a:txBody>
                    <a:bodyPr/>
                    <a:lstStyle/>
                    <a:p>
                      <a:r>
                        <a:rPr sz="1875" b="1">
                          <a:solidFill>
                            <a:srgbClr val="FFFFFF"/>
                          </a:solidFill>
                          <a:latin typeface="Helvetica Neue"/>
                          <a:ea typeface="Helvetica Neue"/>
                          <a:cs typeface="Helvetica Neue"/>
                        </a:rPr>
                        <a:t>Fireworks</a:t>
                      </a:r>
                    </a:p>
                  </a:txBody>
                  <a:tcPr marL="91440" marR="91440" marT="45720" marB="45720">
                    <a:solidFill>
                      <a:srgbClr val="142735"/>
                    </a:solidFill>
                  </a:tcPr>
                </a:tc>
              </a:tr>
              <a:tr h="720090">
                <a:tc>
                  <a:txBody>
                    <a:bodyPr/>
                    <a:lstStyle/>
                    <a:p>
                      <a:r>
                        <a:rPr sz="1875" b="0">
                          <a:solidFill>
                            <a:srgbClr val="142735"/>
                          </a:solidFill>
                          <a:latin typeface="Helvetica Neue"/>
                          <a:ea typeface="Helvetica Neue"/>
                          <a:cs typeface="Helvetica Neue"/>
                        </a:rPr>
                        <a:t>Test correct</a:t>
                      </a:r>
                    </a:p>
                  </a:txBody>
                  <a:tcPr marL="91440" marR="91440" marT="45720" marB="45720">
                    <a:solidFill>
                      <a:srgbClr val="F1F5F8"/>
                    </a:solidFill>
                  </a:tcPr>
                </a:tc>
                <a:tc>
                  <a:txBody>
                    <a:bodyPr/>
                    <a:lstStyle/>
                    <a:p>
                      <a:r>
                        <a:rPr sz="1875" b="0">
                          <a:solidFill>
                            <a:srgbClr val="142735"/>
                          </a:solidFill>
                          <a:latin typeface="Helvetica Neue"/>
                          <a:ea typeface="Helvetica Neue"/>
                          <a:cs typeface="Helvetica Neue"/>
                        </a:rPr>
                        <a:t>97 / 117</a:t>
                      </a:r>
                    </a:p>
                  </a:txBody>
                  <a:tcPr marL="91440" marR="91440" marT="45720" marB="45720">
                    <a:solidFill>
                      <a:srgbClr val="F1F5F8"/>
                    </a:solidFill>
                  </a:tcPr>
                </a:tc>
                <a:tc>
                  <a:txBody>
                    <a:bodyPr/>
                    <a:lstStyle/>
                    <a:p>
                      <a:r>
                        <a:rPr sz="1875" b="0">
                          <a:solidFill>
                            <a:srgbClr val="142735"/>
                          </a:solidFill>
                          <a:latin typeface="Helvetica Neue"/>
                          <a:ea typeface="Helvetica Neue"/>
                          <a:cs typeface="Helvetica Neue"/>
                        </a:rPr>
                        <a:t>98 / 117</a:t>
                      </a:r>
                    </a:p>
                  </a:txBody>
                  <a:tcPr marL="91440" marR="91440" marT="45720" marB="45720">
                    <a:solidFill>
                      <a:srgbClr val="F1F5F8"/>
                    </a:solidFill>
                  </a:tcPr>
                </a:tc>
              </a:tr>
              <a:tr h="720090">
                <a:tc>
                  <a:txBody>
                    <a:bodyPr/>
                    <a:lstStyle/>
                    <a:p>
                      <a:r>
                        <a:rPr sz="1875" b="0">
                          <a:solidFill>
                            <a:srgbClr val="142735"/>
                          </a:solidFill>
                          <a:latin typeface="Helvetica Neue"/>
                          <a:ea typeface="Helvetica Neue"/>
                          <a:cs typeface="Helvetica Neue"/>
                        </a:rPr>
                        <a:t>Active Directory recall</a:t>
                      </a:r>
                    </a:p>
                  </a:txBody>
                  <a:tcPr marL="91440" marR="91440" marT="45720" marB="45720">
                    <a:solidFill>
                      <a:srgbClr val="FFFFFF"/>
                    </a:solidFill>
                  </a:tcPr>
                </a:tc>
                <a:tc>
                  <a:txBody>
                    <a:bodyPr/>
                    <a:lstStyle/>
                    <a:p>
                      <a:r>
                        <a:rPr sz="1875" b="0">
                          <a:solidFill>
                            <a:srgbClr val="142735"/>
                          </a:solidFill>
                          <a:latin typeface="Helvetica Neue"/>
                          <a:ea typeface="Helvetica Neue"/>
                          <a:cs typeface="Helvetica Neue"/>
                        </a:rPr>
                        <a:t>4 / 9</a:t>
                      </a:r>
                    </a:p>
                  </a:txBody>
                  <a:tcPr marL="91440" marR="91440" marT="45720" marB="45720">
                    <a:solidFill>
                      <a:srgbClr val="FFFFFF"/>
                    </a:solidFill>
                  </a:tcPr>
                </a:tc>
                <a:tc>
                  <a:txBody>
                    <a:bodyPr/>
                    <a:lstStyle/>
                    <a:p>
                      <a:r>
                        <a:rPr sz="1875" b="0">
                          <a:solidFill>
                            <a:srgbClr val="142735"/>
                          </a:solidFill>
                          <a:latin typeface="Helvetica Neue"/>
                          <a:ea typeface="Helvetica Neue"/>
                          <a:cs typeface="Helvetica Neue"/>
                        </a:rPr>
                        <a:t>3 / 9</a:t>
                      </a:r>
                    </a:p>
                  </a:txBody>
                  <a:tcPr marL="91440" marR="91440" marT="45720" marB="45720">
                    <a:solidFill>
                      <a:srgbClr val="FFFFFF"/>
                    </a:solidFill>
                  </a:tcPr>
                </a:tc>
              </a:tr>
              <a:tr h="720090">
                <a:tc>
                  <a:txBody>
                    <a:bodyPr/>
                    <a:lstStyle/>
                    <a:p>
                      <a:r>
                        <a:rPr sz="1875" b="0">
                          <a:solidFill>
                            <a:srgbClr val="142735"/>
                          </a:solidFill>
                          <a:latin typeface="Helvetica Neue"/>
                          <a:ea typeface="Helvetica Neue"/>
                          <a:cs typeface="Helvetica Neue"/>
                        </a:rPr>
                        <a:t>Smoke tests correct</a:t>
                      </a:r>
                    </a:p>
                  </a:txBody>
                  <a:tcPr marL="91440" marR="91440" marT="45720" marB="45720">
                    <a:solidFill>
                      <a:srgbClr val="F1F5F8"/>
                    </a:solidFill>
                  </a:tcPr>
                </a:tc>
                <a:tc>
                  <a:txBody>
                    <a:bodyPr/>
                    <a:lstStyle/>
                    <a:p>
                      <a:r>
                        <a:rPr sz="1875" b="0">
                          <a:solidFill>
                            <a:srgbClr val="142735"/>
                          </a:solidFill>
                          <a:latin typeface="Helvetica Neue"/>
                          <a:ea typeface="Helvetica Neue"/>
                          <a:cs typeface="Helvetica Neue"/>
                        </a:rPr>
                        <a:t>4 / 5</a:t>
                      </a:r>
                    </a:p>
                  </a:txBody>
                  <a:tcPr marL="91440" marR="91440" marT="45720" marB="45720">
                    <a:solidFill>
                      <a:srgbClr val="F1F5F8"/>
                    </a:solidFill>
                  </a:tcPr>
                </a:tc>
                <a:tc>
                  <a:txBody>
                    <a:bodyPr/>
                    <a:lstStyle/>
                    <a:p>
                      <a:r>
                        <a:rPr sz="1875" b="0">
                          <a:solidFill>
                            <a:srgbClr val="142735"/>
                          </a:solidFill>
                          <a:latin typeface="Helvetica Neue"/>
                          <a:ea typeface="Helvetica Neue"/>
                          <a:cs typeface="Helvetica Neue"/>
                        </a:rPr>
                        <a:t>4 / 5</a:t>
                      </a:r>
                    </a:p>
                  </a:txBody>
                  <a:tcPr marL="91440" marR="91440" marT="45720" marB="45720">
                    <a:solidFill>
                      <a:srgbClr val="F1F5F8"/>
                    </a:solidFill>
                  </a:tcPr>
                </a:tc>
              </a:tr>
              <a:tr h="720090">
                <a:tc>
                  <a:txBody>
                    <a:bodyPr/>
                    <a:lstStyle/>
                    <a:p>
                      <a:r>
                        <a:rPr sz="1875" b="0">
                          <a:solidFill>
                            <a:srgbClr val="142735"/>
                          </a:solidFill>
                          <a:latin typeface="Helvetica Neue"/>
                          <a:ea typeface="Helvetica Neue"/>
                          <a:cs typeface="Helvetica Neue"/>
                        </a:rPr>
                        <a:t>Tuned invalid labels</a:t>
                      </a:r>
                    </a:p>
                  </a:txBody>
                  <a:tcPr marL="91440" marR="91440" marT="45720" marB="45720">
                    <a:solidFill>
                      <a:srgbClr val="FFFFFF"/>
                    </a:solidFill>
                  </a:tcPr>
                </a:tc>
                <a:tc>
                  <a:txBody>
                    <a:bodyPr/>
                    <a:lstStyle/>
                    <a:p>
                      <a:r>
                        <a:rPr sz="1875" b="0">
                          <a:solidFill>
                            <a:srgbClr val="142735"/>
                          </a:solidFill>
                          <a:latin typeface="Helvetica Neue"/>
                          <a:ea typeface="Helvetica Neue"/>
                          <a:cs typeface="Helvetica Neue"/>
                        </a:rPr>
                        <a:t>0</a:t>
                      </a:r>
                    </a:p>
                  </a:txBody>
                  <a:tcPr marL="91440" marR="91440" marT="45720" marB="45720">
                    <a:solidFill>
                      <a:srgbClr val="FFFFFF"/>
                    </a:solidFill>
                  </a:tcPr>
                </a:tc>
                <a:tc>
                  <a:txBody>
                    <a:bodyPr/>
                    <a:lstStyle/>
                    <a:p>
                      <a:r>
                        <a:rPr sz="1875" b="0">
                          <a:solidFill>
                            <a:srgbClr val="142735"/>
                          </a:solidFill>
                          <a:latin typeface="Helvetica Neue"/>
                          <a:ea typeface="Helvetica Neue"/>
                          <a:cs typeface="Helvetica Neue"/>
                        </a:rPr>
                        <a:t>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5EDA15F-B791-4594-BE7B-E551C7CF94ED}"/>
              </a:ext>
            </a:extLst>
          </p:cNvPr>
          <p:cNvSpPr>
            <a:spLocks xmlns:a="http://schemas.openxmlformats.org/drawingml/2006/main" noGrp="1"/>
          </p:cNvSpPr>
          <p:nvPr/>
        </p:nvSpPr>
        <p:spPr>
          <a:xfrm xmlns:a="http://schemas.openxmlformats.org/drawingml/2006/main">
            <a:off x="685800" y="5905500"/>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170"/>
                </a:solidFill>
                <a:latin typeface="Helvetica Neue"/>
                <a:ea typeface="Helvetica Neue"/>
                <a:cs typeface="Helvetica Neue"/>
              </a:defRPr>
            </a:pPr>
            <a:r>
              <a:rPr sz="1425" b="0">
                <a:solidFill>
                  <a:srgbClr val="506170"/>
                </a:solidFill>
                <a:latin typeface="Helvetica Neue"/>
                <a:ea typeface="Helvetica Neue"/>
                <a:cs typeface="Helvetica Neue"/>
              </a:rPr>
              <a:t>The different models and small test set limit conclusions about the platforms</a:t>
            </a:r>
          </a:p>
        </p:txBody>
      </p:sp>
    </p:spTree>
    <p:extLst>
      <p:ext uri="{BB962C8B-B14F-4D97-AF65-F5344CB8AC3E}">
        <p14:creationId xmlns:p14="http://schemas.microsoft.com/office/powerpoint/2010/main" val="19256801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A90D1B-3156-4C68-A424-F650BF695D2F}"/>
              </a:ext>
            </a:extLst>
          </p:cNvPr>
          <p:cNvSpPr>
            <a:spLocks xmlns:a="http://schemas.openxmlformats.org/drawingml/2006/main" noGrp="1"/>
          </p:cNvSpPr>
          <p:nvPr/>
        </p:nvSpPr>
        <p:spPr>
          <a:xfrm xmlns:a="http://schemas.openxmlformats.org/drawingml/2006/main">
            <a:off x="647700" y="4191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735"/>
                </a:solidFill>
                <a:latin typeface="Helvetica Neue"/>
                <a:ea typeface="Helvetica Neue"/>
                <a:cs typeface="Helvetica Neue"/>
              </a:defRPr>
            </a:pPr>
            <a:r>
              <a:rPr sz="3300" b="1">
                <a:solidFill>
                  <a:srgbClr val="142735"/>
                </a:solidFill>
                <a:latin typeface="Helvetica Neue"/>
                <a:ea typeface="Helvetica Neue"/>
                <a:cs typeface="Helvetica Neue"/>
              </a:rPr>
              <a:t>Time, latency and cloud resources</a:t>
            </a:r>
          </a:p>
        </p:txBody>
      </p:sp>
      <p:sp>
        <p:nvSpPr>
          <p:cNvPr id="2" name="">
            <a:extLst xmlns:a="http://schemas.openxmlformats.org/drawingml/2006/main">
              <a:ext uri="{FF2B5EF4-FFF2-40B4-BE49-F238E27FC236}">
                <a16:creationId xmlns:a16="http://schemas.microsoft.com/office/drawing/2014/main" id="{9EF02E63-510C-47F3-8BA4-62631F1DD6C7}"/>
              </a:ext>
            </a:extLst>
          </p:cNvPr>
          <p:cNvSpPr>
            <a:spLocks xmlns:a="http://schemas.openxmlformats.org/drawingml/2006/main" noGrp="1"/>
          </p:cNvSpPr>
          <p:nvPr/>
        </p:nvSpPr>
        <p:spPr>
          <a:xfrm xmlns:a="http://schemas.openxmlformats.org/drawingml/2006/main">
            <a:off x="11049000" y="63150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70"/>
                </a:solidFill>
                <a:latin typeface="Helvetica Neue"/>
                <a:ea typeface="Helvetica Neue"/>
                <a:cs typeface="Helvetica Neue"/>
              </a:defRPr>
            </a:pPr>
            <a:r>
              <a:rPr sz="1350" b="0">
                <a:solidFill>
                  <a:srgbClr val="506170"/>
                </a:solidFill>
                <a:latin typeface="Helvetica Neue"/>
                <a:ea typeface="Helvetica Neue"/>
                <a:cs typeface="Helvetica Neue"/>
              </a:rPr>
              <a:t>08</a:t>
            </a:r>
          </a:p>
        </p:txBody>
      </p:sp>
      <p:graphicFrame>
        <p:nvGraphicFramePr>
          <p:cNvPr id="8" name=""/>
          <p:cNvGraphicFramePr/>
          <p:nvPr/>
        </p:nvGraphicFramePr>
        <p:xfrm>
          <a:off xmlns:a="http://schemas.openxmlformats.org/drawingml/2006/main" x="685800" y="1628775"/>
          <a:ext xmlns:a="http://schemas.openxmlformats.org/drawingml/2006/main" cx="10820400" cy="2943225"/>
        </p:xfrm>
        <a:graphic xmlns:a="http://schemas.openxmlformats.org/drawingml/2006/main">
          <a:graphicData uri="http://schemas.openxmlformats.org/drawingml/2006/table">
            <a:tbl>
              <a:tblPr/>
              <a:tblGrid>
                <a:gridCol w="5105400"/>
                <a:gridCol w="2857500"/>
                <a:gridCol w="2857500"/>
              </a:tblGrid>
              <a:tr h="735806">
                <a:tc>
                  <a:txBody>
                    <a:bodyPr/>
                    <a:lstStyle/>
                    <a:p>
                      <a:r>
                        <a:rPr sz="1875" b="1">
                          <a:solidFill>
                            <a:srgbClr val="FFFFFF"/>
                          </a:solidFill>
                          <a:latin typeface="Helvetica Neue"/>
                          <a:ea typeface="Helvetica Neue"/>
                          <a:cs typeface="Helvetica Neue"/>
                        </a:rPr>
                        <a:t>Measurement</a:t>
                      </a:r>
                    </a:p>
                  </a:txBody>
                  <a:tcPr marL="91440" marR="91440" marT="45720" marB="45720">
                    <a:solidFill>
                      <a:srgbClr val="142735"/>
                    </a:solidFill>
                  </a:tcPr>
                </a:tc>
                <a:tc>
                  <a:txBody>
                    <a:bodyPr/>
                    <a:lstStyle/>
                    <a:p>
                      <a:r>
                        <a:rPr sz="1875" b="1">
                          <a:solidFill>
                            <a:srgbClr val="FFFFFF"/>
                          </a:solidFill>
                          <a:latin typeface="Helvetica Neue"/>
                          <a:ea typeface="Helvetica Neue"/>
                          <a:cs typeface="Helvetica Neue"/>
                        </a:rPr>
                        <a:t>Mac</a:t>
                      </a:r>
                    </a:p>
                  </a:txBody>
                  <a:tcPr marL="91440" marR="91440" marT="45720" marB="45720">
                    <a:solidFill>
                      <a:srgbClr val="142735"/>
                    </a:solidFill>
                  </a:tcPr>
                </a:tc>
                <a:tc>
                  <a:txBody>
                    <a:bodyPr/>
                    <a:lstStyle/>
                    <a:p>
                      <a:r>
                        <a:rPr sz="1875" b="1">
                          <a:solidFill>
                            <a:srgbClr val="FFFFFF"/>
                          </a:solidFill>
                          <a:latin typeface="Helvetica Neue"/>
                          <a:ea typeface="Helvetica Neue"/>
                          <a:cs typeface="Helvetica Neue"/>
                        </a:rPr>
                        <a:t>Fireworks</a:t>
                      </a:r>
                    </a:p>
                  </a:txBody>
                  <a:tcPr marL="91440" marR="91440" marT="45720" marB="45720">
                    <a:solidFill>
                      <a:srgbClr val="142735"/>
                    </a:solidFill>
                  </a:tcPr>
                </a:tc>
              </a:tr>
              <a:tr h="735806">
                <a:tc>
                  <a:txBody>
                    <a:bodyPr/>
                    <a:lstStyle/>
                    <a:p>
                      <a:r>
                        <a:rPr sz="1875" b="0">
                          <a:solidFill>
                            <a:srgbClr val="142735"/>
                          </a:solidFill>
                          <a:latin typeface="Helvetica Neue"/>
                          <a:ea typeface="Helvetica Neue"/>
                          <a:cs typeface="Helvetica Neue"/>
                        </a:rPr>
                        <a:t>Training run elapsed</a:t>
                      </a:r>
                    </a:p>
                  </a:txBody>
                  <a:tcPr marL="91440" marR="91440" marT="45720" marB="45720">
                    <a:solidFill>
                      <a:srgbClr val="F1F5F8"/>
                    </a:solidFill>
                  </a:tcPr>
                </a:tc>
                <a:tc>
                  <a:txBody>
                    <a:bodyPr/>
                    <a:lstStyle/>
                    <a:p>
                      <a:r>
                        <a:rPr sz="1875" b="0">
                          <a:solidFill>
                            <a:srgbClr val="142735"/>
                          </a:solidFill>
                          <a:latin typeface="Helvetica Neue"/>
                          <a:ea typeface="Helvetica Neue"/>
                          <a:cs typeface="Helvetica Neue"/>
                        </a:rPr>
                        <a:t>24.96 min</a:t>
                      </a:r>
                    </a:p>
                  </a:txBody>
                  <a:tcPr marL="91440" marR="91440" marT="45720" marB="45720">
                    <a:solidFill>
                      <a:srgbClr val="F1F5F8"/>
                    </a:solidFill>
                  </a:tcPr>
                </a:tc>
                <a:tc>
                  <a:txBody>
                    <a:bodyPr/>
                    <a:lstStyle/>
                    <a:p>
                      <a:r>
                        <a:rPr sz="1875" b="0">
                          <a:solidFill>
                            <a:srgbClr val="142735"/>
                          </a:solidFill>
                          <a:latin typeface="Helvetica Neue"/>
                          <a:ea typeface="Helvetica Neue"/>
                          <a:cs typeface="Helvetica Neue"/>
                        </a:rPr>
                        <a:t>9.93 min</a:t>
                      </a:r>
                    </a:p>
                  </a:txBody>
                  <a:tcPr marL="91440" marR="91440" marT="45720" marB="45720">
                    <a:solidFill>
                      <a:srgbClr val="F1F5F8"/>
                    </a:solidFill>
                  </a:tcPr>
                </a:tc>
              </a:tr>
              <a:tr h="735806">
                <a:tc>
                  <a:txBody>
                    <a:bodyPr/>
                    <a:lstStyle/>
                    <a:p>
                      <a:r>
                        <a:rPr sz="1875" b="0">
                          <a:solidFill>
                            <a:srgbClr val="142735"/>
                          </a:solidFill>
                          <a:latin typeface="Helvetica Neue"/>
                          <a:ea typeface="Helvetica Neue"/>
                          <a:cs typeface="Helvetica Neue"/>
                        </a:rPr>
                        <a:t>Median test latency</a:t>
                      </a:r>
                    </a:p>
                  </a:txBody>
                  <a:tcPr marL="91440" marR="91440" marT="45720" marB="45720">
                    <a:solidFill>
                      <a:srgbClr val="FFFFFF"/>
                    </a:solidFill>
                  </a:tcPr>
                </a:tc>
                <a:tc>
                  <a:txBody>
                    <a:bodyPr/>
                    <a:lstStyle/>
                    <a:p>
                      <a:r>
                        <a:rPr sz="1875" b="0">
                          <a:solidFill>
                            <a:srgbClr val="142735"/>
                          </a:solidFill>
                          <a:latin typeface="Helvetica Neue"/>
                          <a:ea typeface="Helvetica Neue"/>
                          <a:cs typeface="Helvetica Neue"/>
                        </a:rPr>
                        <a:t>0.511 sec</a:t>
                      </a:r>
                    </a:p>
                  </a:txBody>
                  <a:tcPr marL="91440" marR="91440" marT="45720" marB="45720">
                    <a:solidFill>
                      <a:srgbClr val="FFFFFF"/>
                    </a:solidFill>
                  </a:tcPr>
                </a:tc>
                <a:tc>
                  <a:txBody>
                    <a:bodyPr/>
                    <a:lstStyle/>
                    <a:p>
                      <a:r>
                        <a:rPr sz="1875" b="0">
                          <a:solidFill>
                            <a:srgbClr val="142735"/>
                          </a:solidFill>
                          <a:latin typeface="Helvetica Neue"/>
                          <a:ea typeface="Helvetica Neue"/>
                          <a:cs typeface="Helvetica Neue"/>
                        </a:rPr>
                        <a:t>0.218 sec</a:t>
                      </a:r>
                    </a:p>
                  </a:txBody>
                  <a:tcPr marL="91440" marR="91440" marT="45720" marB="45720">
                    <a:solidFill>
                      <a:srgbClr val="FFFFFF"/>
                    </a:solidFill>
                  </a:tcPr>
                </a:tc>
              </a:tr>
              <a:tr h="735806">
                <a:tc>
                  <a:txBody>
                    <a:bodyPr/>
                    <a:lstStyle/>
                    <a:p>
                      <a:r>
                        <a:rPr sz="1875" b="0">
                          <a:solidFill>
                            <a:srgbClr val="142735"/>
                          </a:solidFill>
                          <a:latin typeface="Helvetica Neue"/>
                          <a:ea typeface="Helvetica Neue"/>
                          <a:cs typeface="Helvetica Neue"/>
                        </a:rPr>
                        <a:t>API charges / observed spend</a:t>
                      </a:r>
                    </a:p>
                  </a:txBody>
                  <a:tcPr marL="91440" marR="91440" marT="45720" marB="45720">
                    <a:solidFill>
                      <a:srgbClr val="F1F5F8"/>
                    </a:solidFill>
                  </a:tcPr>
                </a:tc>
                <a:tc>
                  <a:txBody>
                    <a:bodyPr/>
                    <a:lstStyle/>
                    <a:p>
                      <a:r>
                        <a:rPr sz="1875" b="0">
                          <a:solidFill>
                            <a:srgbClr val="142735"/>
                          </a:solidFill>
                          <a:latin typeface="Helvetica Neue"/>
                          <a:ea typeface="Helvetica Neue"/>
                          <a:cs typeface="Helvetica Neue"/>
                        </a:rPr>
                        <a:t>$0 API charges</a:t>
                      </a:r>
                    </a:p>
                  </a:txBody>
                  <a:tcPr marL="91440" marR="91440" marT="45720" marB="45720">
                    <a:solidFill>
                      <a:srgbClr val="F1F5F8"/>
                    </a:solidFill>
                  </a:tcPr>
                </a:tc>
                <a:tc>
                  <a:txBody>
                    <a:bodyPr/>
                    <a:lstStyle/>
                    <a:p>
                      <a:r>
                        <a:rPr sz="1875" b="0">
                          <a:solidFill>
                            <a:srgbClr val="142735"/>
                          </a:solidFill>
                          <a:latin typeface="Helvetica Neue"/>
                          <a:ea typeface="Helvetica Neue"/>
                          <a:cs typeface="Helvetica Neue"/>
                        </a:rPr>
                        <a:t>$0.87 observed total</a:t>
                      </a:r>
                    </a:p>
                  </a:txBody>
                  <a:tcPr marL="91440" marR="91440" marT="45720" marB="45720">
                    <a:solidFill>
                      <a:srgbClr val="F1F5F8"/>
                    </a:solidFill>
                  </a:tcPr>
                </a:tc>
              </a:tr>
            </a:tbl>
          </a:graphicData>
        </a:graphic>
      </p:graphicFrame>
      <p:sp>
        <p:nvSpPr>
          <p:cNvPr id="4" name="">
            <a:extLst xmlns:a="http://schemas.openxmlformats.org/drawingml/2006/main">
              <a:ext uri="{FF2B5EF4-FFF2-40B4-BE49-F238E27FC236}">
                <a16:creationId xmlns:a16="http://schemas.microsoft.com/office/drawing/2014/main" id="{FE82EAFD-C680-45EE-B0BB-D13A1D44D85C}"/>
              </a:ext>
            </a:extLst>
          </p:cNvPr>
          <p:cNvSpPr>
            <a:spLocks xmlns:a="http://schemas.openxmlformats.org/drawingml/2006/main" noGrp="1"/>
          </p:cNvSpPr>
          <p:nvPr/>
        </p:nvSpPr>
        <p:spPr>
          <a:xfrm xmlns:a="http://schemas.openxmlformats.org/drawingml/2006/main">
            <a:off x="723900" y="50196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78B83"/>
                </a:solidFill>
                <a:latin typeface="Helvetica Neue"/>
                <a:ea typeface="Helvetica Neue"/>
                <a:cs typeface="Helvetica Neue"/>
              </a:defRPr>
            </a:pPr>
            <a:r>
              <a:rPr sz="2475" b="1">
                <a:solidFill>
                  <a:srgbClr val="078B83"/>
                </a:solidFill>
                <a:latin typeface="Helvetica Neue"/>
                <a:ea typeface="Helvetica Neue"/>
                <a:cs typeface="Helvetica Neue"/>
              </a:rPr>
              <a:t>Training and inference GPUs released</a:t>
            </a:r>
          </a:p>
        </p:txBody>
      </p:sp>
      <p:sp>
        <p:nvSpPr>
          <p:cNvPr id="5" name="">
            <a:extLst xmlns:a="http://schemas.openxmlformats.org/drawingml/2006/main">
              <a:ext uri="{FF2B5EF4-FFF2-40B4-BE49-F238E27FC236}">
                <a16:creationId xmlns:a16="http://schemas.microsoft.com/office/drawing/2014/main" id="{F1086460-32BC-4BB8-9136-BE9F63B875CB}"/>
              </a:ext>
            </a:extLst>
          </p:cNvPr>
          <p:cNvSpPr>
            <a:spLocks xmlns:a="http://schemas.openxmlformats.org/drawingml/2006/main" noGrp="1"/>
          </p:cNvSpPr>
          <p:nvPr/>
        </p:nvSpPr>
        <p:spPr>
          <a:xfrm xmlns:a="http://schemas.openxmlformats.org/drawingml/2006/main">
            <a:off x="685800" y="5905500"/>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170"/>
                </a:solidFill>
                <a:latin typeface="Helvetica Neue"/>
                <a:ea typeface="Helvetica Neue"/>
                <a:cs typeface="Helvetica Neue"/>
              </a:defRPr>
            </a:pPr>
            <a:r>
              <a:rPr sz="1425" b="0">
                <a:solidFill>
                  <a:srgbClr val="506170"/>
                </a:solidFill>
                <a:latin typeface="Helvetica Neue"/>
                <a:ea typeface="Helvetica Neue"/>
                <a:cs typeface="Helvetica Neue"/>
              </a:rPr>
              <a:t>Billing snapshot: 12 Sep 2026 UTC. Charges may lag. Timing boundaries differ</a:t>
            </a:r>
          </a:p>
        </p:txBody>
      </p:sp>
    </p:spTree>
    <p:extLst>
      <p:ext uri="{BB962C8B-B14F-4D97-AF65-F5344CB8AC3E}">
        <p14:creationId xmlns:p14="http://schemas.microsoft.com/office/powerpoint/2010/main" val="13198841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E64EF9-73E3-469F-B640-638B4DB3DE06}"/>
              </a:ext>
            </a:extLst>
          </p:cNvPr>
          <p:cNvSpPr>
            <a:spLocks xmlns:a="http://schemas.openxmlformats.org/drawingml/2006/main" noGrp="1"/>
          </p:cNvSpPr>
          <p:nvPr/>
        </p:nvSpPr>
        <p:spPr>
          <a:xfrm xmlns:a="http://schemas.openxmlformats.org/drawingml/2006/main">
            <a:off x="647700" y="4191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735"/>
                </a:solidFill>
                <a:latin typeface="Helvetica Neue"/>
                <a:ea typeface="Helvetica Neue"/>
                <a:cs typeface="Helvetica Neue"/>
              </a:defRPr>
            </a:pPr>
            <a:r>
              <a:rPr sz="3300" b="1">
                <a:solidFill>
                  <a:srgbClr val="142735"/>
                </a:solidFill>
                <a:latin typeface="Helvetica Neue"/>
                <a:ea typeface="Helvetica Neue"/>
                <a:cs typeface="Helvetica Neue"/>
              </a:rPr>
              <a:t>Local demo and saved evidence</a:t>
            </a:r>
          </a:p>
        </p:txBody>
      </p:sp>
      <p:sp>
        <p:nvSpPr>
          <p:cNvPr id="2" name="">
            <a:extLst xmlns:a="http://schemas.openxmlformats.org/drawingml/2006/main">
              <a:ext uri="{FF2B5EF4-FFF2-40B4-BE49-F238E27FC236}">
                <a16:creationId xmlns:a16="http://schemas.microsoft.com/office/drawing/2014/main" id="{A480947F-5DAB-4427-97B9-CFC89687526D}"/>
              </a:ext>
            </a:extLst>
          </p:cNvPr>
          <p:cNvSpPr>
            <a:spLocks xmlns:a="http://schemas.openxmlformats.org/drawingml/2006/main" noGrp="1"/>
          </p:cNvSpPr>
          <p:nvPr/>
        </p:nvSpPr>
        <p:spPr>
          <a:xfrm xmlns:a="http://schemas.openxmlformats.org/drawingml/2006/main">
            <a:off x="11049000" y="63150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70"/>
                </a:solidFill>
                <a:latin typeface="Helvetica Neue"/>
                <a:ea typeface="Helvetica Neue"/>
                <a:cs typeface="Helvetica Neue"/>
              </a:defRPr>
            </a:pPr>
            <a:r>
              <a:rPr sz="1350" b="0">
                <a:solidFill>
                  <a:srgbClr val="506170"/>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1160318F-731D-4A68-8521-AC451D95A84A}"/>
              </a:ext>
            </a:extLst>
          </p:cNvPr>
          <p:cNvSpPr>
            <a:spLocks xmlns:a="http://schemas.openxmlformats.org/drawingml/2006/main" noGrp="1"/>
          </p:cNvSpPr>
          <p:nvPr/>
        </p:nvSpPr>
        <p:spPr>
          <a:xfrm xmlns:a="http://schemas.openxmlformats.org/drawingml/2006/main">
            <a:off x="723900" y="1733550"/>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Helvetica Neue"/>
                <a:ea typeface="Helvetica Neue"/>
                <a:cs typeface="Helvetica Neue"/>
              </a:defRPr>
            </a:pPr>
            <a:r>
              <a:rPr sz="2325" b="0">
                <a:solidFill>
                  <a:srgbClr val="142735"/>
                </a:solidFill>
                <a:latin typeface="Helvetica Neue"/>
                <a:ea typeface="Helvetica Neue"/>
                <a:cs typeface="Helvetica Neue"/>
              </a:rPr>
              <a:t>.venv/bin/python scripts/classify.py \</a:t>
            </a:r>
          </a:p>
          <a:p xmlns:a="http://schemas.openxmlformats.org/drawingml/2006/main">
            <a:pPr>
              <a:defRPr sz="2325" b="0">
                <a:solidFill>
                  <a:srgbClr val="142735"/>
                </a:solidFill>
                <a:latin typeface="Helvetica Neue"/>
                <a:ea typeface="Helvetica Neue"/>
                <a:cs typeface="Helvetica Neue"/>
              </a:defRPr>
            </a:pPr>
            <a:r>
              <a:rPr sz="2325" b="0">
                <a:solidFill>
                  <a:srgbClr val="142735"/>
                </a:solidFill>
                <a:latin typeface="Helvetica Neue"/>
                <a:ea typeface="Helvetica Neue"/>
                <a:cs typeface="Helvetica Neue"/>
              </a:rPr>
              <a:t>"Please install Adobe Acrobat on my computer."</a:t>
            </a:r>
          </a:p>
        </p:txBody>
      </p:sp>
      <p:sp>
        <p:nvSpPr>
          <p:cNvPr id="4" name="">
            <a:extLst xmlns:a="http://schemas.openxmlformats.org/drawingml/2006/main">
              <a:ext uri="{FF2B5EF4-FFF2-40B4-BE49-F238E27FC236}">
                <a16:creationId xmlns:a16="http://schemas.microsoft.com/office/drawing/2014/main" id="{E0F0669B-28B9-4866-A4B5-3E87C9D4ED44}"/>
              </a:ext>
            </a:extLst>
          </p:cNvPr>
          <p:cNvSpPr>
            <a:spLocks xmlns:a="http://schemas.openxmlformats.org/drawingml/2006/main" noGrp="1"/>
          </p:cNvSpPr>
          <p:nvPr/>
        </p:nvSpPr>
        <p:spPr>
          <a:xfrm xmlns:a="http://schemas.openxmlformats.org/drawingml/2006/main">
            <a:off x="723900" y="33051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78B83"/>
                </a:solidFill>
                <a:latin typeface="Helvetica Neue"/>
                <a:ea typeface="Helvetica Neue"/>
                <a:cs typeface="Helvetica Neue"/>
              </a:defRPr>
            </a:pPr>
            <a:r>
              <a:rPr sz="3225" b="1">
                <a:solidFill>
                  <a:srgbClr val="078B83"/>
                </a:solidFill>
                <a:latin typeface="Helvetica Neue"/>
                <a:ea typeface="Helvetica Neue"/>
                <a:cs typeface="Helvetica Neue"/>
              </a:rPr>
              <a:t>Result: Software</a:t>
            </a:r>
          </a:p>
        </p:txBody>
      </p:sp>
      <p:sp>
        <p:nvSpPr>
          <p:cNvPr id="5" name="">
            <a:extLst xmlns:a="http://schemas.openxmlformats.org/drawingml/2006/main">
              <a:ext uri="{FF2B5EF4-FFF2-40B4-BE49-F238E27FC236}">
                <a16:creationId xmlns:a16="http://schemas.microsoft.com/office/drawing/2014/main" id="{D4304208-7FF7-4A45-9BBD-344826355815}"/>
              </a:ext>
            </a:extLst>
          </p:cNvPr>
          <p:cNvSpPr>
            <a:spLocks xmlns:a="http://schemas.openxmlformats.org/drawingml/2006/main" noGrp="1"/>
          </p:cNvSpPr>
          <p:nvPr/>
        </p:nvSpPr>
        <p:spPr>
          <a:xfrm xmlns:a="http://schemas.openxmlformats.org/drawingml/2006/main">
            <a:off x="723900" y="4524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563EB"/>
                </a:solidFill>
                <a:latin typeface="Helvetica Neue"/>
                <a:ea typeface="Helvetica Neue"/>
                <a:cs typeface="Helvetica Neue"/>
              </a:defRPr>
            </a:pPr>
            <a:r>
              <a:rPr sz="2400" b="0">
                <a:solidFill>
                  <a:srgbClr val="2563EB"/>
                </a:solidFill>
                <a:latin typeface="Helvetica Neue"/>
                <a:ea typeface="Helvetica Neue"/>
                <a:cs typeface="Helvetica Neue"/>
              </a:rPr>
              <a:t>github.com/nishokvg/finetuning-compare</a:t>
            </a:r>
          </a:p>
        </p:txBody>
      </p:sp>
      <p:sp>
        <p:nvSpPr>
          <p:cNvPr id="6" name="">
            <a:extLst xmlns:a="http://schemas.openxmlformats.org/drawingml/2006/main">
              <a:ext uri="{FF2B5EF4-FFF2-40B4-BE49-F238E27FC236}">
                <a16:creationId xmlns:a16="http://schemas.microsoft.com/office/drawing/2014/main" id="{0ECC57A4-7AC1-43E0-A12B-BE60B6DFF1E6}"/>
              </a:ext>
            </a:extLst>
          </p:cNvPr>
          <p:cNvSpPr>
            <a:spLocks xmlns:a="http://schemas.openxmlformats.org/drawingml/2006/main" noGrp="1"/>
          </p:cNvSpPr>
          <p:nvPr/>
        </p:nvSpPr>
        <p:spPr>
          <a:xfrm xmlns:a="http://schemas.openxmlformats.org/drawingml/2006/main">
            <a:off x="685800" y="5905500"/>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170"/>
                </a:solidFill>
                <a:latin typeface="Helvetica Neue"/>
                <a:ea typeface="Helvetica Neue"/>
                <a:cs typeface="Helvetica Neue"/>
              </a:defRPr>
            </a:pPr>
            <a:r>
              <a:rPr sz="1425" b="0">
                <a:solidFill>
                  <a:srgbClr val="506170"/>
                </a:solidFill>
                <a:latin typeface="Helvetica Neue"/>
                <a:ea typeface="Helvetica Neue"/>
                <a:cs typeface="Helvetica Neue"/>
              </a:rPr>
              <a:t>Live-demo command assumes the local environment and trained weights are installed</a:t>
            </a:r>
          </a:p>
        </p:txBody>
      </p:sp>
    </p:spTree>
    <p:extLst>
      <p:ext uri="{BB962C8B-B14F-4D97-AF65-F5344CB8AC3E}">
        <p14:creationId xmlns:p14="http://schemas.microsoft.com/office/powerpoint/2010/main" val="2770038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BCC2F9-B6AE-4ECD-B89D-38B51E23B210}"/>
              </a:ext>
            </a:extLst>
          </p:cNvPr>
          <p:cNvSpPr>
            <a:spLocks xmlns:a="http://schemas.openxmlformats.org/drawingml/2006/main" noGrp="1"/>
          </p:cNvSpPr>
          <p:nvPr/>
        </p:nvSpPr>
        <p:spPr>
          <a:xfrm xmlns:a="http://schemas.openxmlformats.org/drawingml/2006/main">
            <a:off x="647700" y="4191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735"/>
                </a:solidFill>
                <a:latin typeface="Helvetica Neue"/>
                <a:ea typeface="Helvetica Neue"/>
                <a:cs typeface="Helvetica Neue"/>
              </a:defRPr>
            </a:pPr>
            <a:r>
              <a:rPr sz="3300" b="1">
                <a:solidFill>
                  <a:srgbClr val="142735"/>
                </a:solidFill>
                <a:latin typeface="Helvetica Neue"/>
                <a:ea typeface="Helvetica Neue"/>
                <a:cs typeface="Helvetica Neue"/>
              </a:rPr>
              <a:t>What I learned</a:t>
            </a:r>
          </a:p>
        </p:txBody>
      </p:sp>
      <p:sp>
        <p:nvSpPr>
          <p:cNvPr id="2" name="">
            <a:extLst xmlns:a="http://schemas.openxmlformats.org/drawingml/2006/main">
              <a:ext uri="{FF2B5EF4-FFF2-40B4-BE49-F238E27FC236}">
                <a16:creationId xmlns:a16="http://schemas.microsoft.com/office/drawing/2014/main" id="{BA5786BD-D11D-415C-90F1-B918DFD7454B}"/>
              </a:ext>
            </a:extLst>
          </p:cNvPr>
          <p:cNvSpPr>
            <a:spLocks xmlns:a="http://schemas.openxmlformats.org/drawingml/2006/main" noGrp="1"/>
          </p:cNvSpPr>
          <p:nvPr/>
        </p:nvSpPr>
        <p:spPr>
          <a:xfrm xmlns:a="http://schemas.openxmlformats.org/drawingml/2006/main">
            <a:off x="11049000" y="63150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70"/>
                </a:solidFill>
                <a:latin typeface="Helvetica Neue"/>
                <a:ea typeface="Helvetica Neue"/>
                <a:cs typeface="Helvetica Neue"/>
              </a:defRPr>
            </a:pPr>
            <a:r>
              <a:rPr sz="1350" b="0">
                <a:solidFill>
                  <a:srgbClr val="506170"/>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0ABB6A48-B28F-470F-BABD-13D1C6E334D1}"/>
              </a:ext>
            </a:extLst>
          </p:cNvPr>
          <p:cNvSpPr>
            <a:spLocks xmlns:a="http://schemas.openxmlformats.org/drawingml/2006/main" noGrp="1"/>
          </p:cNvSpPr>
          <p:nvPr/>
        </p:nvSpPr>
        <p:spPr>
          <a:xfrm xmlns:a="http://schemas.openxmlformats.org/drawingml/2006/main">
            <a:off x="685800" y="1695450"/>
            <a:ext cx="10620375"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Helvetica Neue"/>
                <a:ea typeface="Helvetica Neue"/>
                <a:cs typeface="Helvetica Neue"/>
              </a:defRPr>
            </a:pPr>
            <a:r>
              <a:rPr sz="2325" b="0">
                <a:solidFill>
                  <a:srgbClr val="142735"/>
                </a:solidFill>
                <a:latin typeface="Helvetica Neue"/>
                <a:ea typeface="Helvetica Neue"/>
                <a:cs typeface="Helvetica Neue"/>
              </a:rPr>
              <a:t>Fine-tuning added more than 38 percentage points</a:t>
            </a:r>
          </a:p>
          <a:p xmlns:a="http://schemas.openxmlformats.org/drawingml/2006/main">
            <a:pPr>
              <a:defRPr sz="2325" b="0">
                <a:solidFill>
                  <a:srgbClr val="142735"/>
                </a:solidFill>
                <a:latin typeface="Helvetica Neue"/>
                <a:ea typeface="Helvetica Neue"/>
                <a:cs typeface="Helvetica Neue"/>
              </a:defRPr>
            </a:pPr>
            <a:r>
              <a:rPr sz="2325" b="0">
                <a:solidFill>
                  <a:srgbClr val="142735"/>
                </a:solidFill>
                <a:latin typeface="Helvetica Neue"/>
                <a:ea typeface="Helvetica Neue"/>
                <a:cs typeface="Helvetica Neue"/>
              </a:rPr>
              <a:t>of accuracy on both setups.</a:t>
            </a:r>
          </a:p>
          <a:p xmlns:a="http://schemas.openxmlformats.org/drawingml/2006/main">
            <a:r>
              <a:t/>
            </a:r>
          </a:p>
          <a:p xmlns:a="http://schemas.openxmlformats.org/drawingml/2006/main">
            <a:pPr>
              <a:defRPr sz="2325" b="0">
                <a:solidFill>
                  <a:srgbClr val="142735"/>
                </a:solidFill>
                <a:latin typeface="Helvetica Neue"/>
                <a:ea typeface="Helvetica Neue"/>
                <a:cs typeface="Helvetica Neue"/>
              </a:defRPr>
            </a:pPr>
            <a:r>
              <a:rPr sz="2325" b="0">
                <a:solidFill>
                  <a:srgbClr val="142735"/>
                </a:solidFill>
                <a:latin typeface="Helvetica Neue"/>
                <a:ea typeface="Helvetica Neue"/>
                <a:cs typeface="Helvetica Neue"/>
              </a:rPr>
              <a:t>Validation caught the damaged 4-bit merge.</a:t>
            </a:r>
          </a:p>
          <a:p xmlns:a="http://schemas.openxmlformats.org/drawingml/2006/main">
            <a:r>
              <a:t/>
            </a:r>
          </a:p>
          <a:p xmlns:a="http://schemas.openxmlformats.org/drawingml/2006/main">
            <a:pPr>
              <a:defRPr sz="2325" b="0">
                <a:solidFill>
                  <a:srgbClr val="142735"/>
                </a:solidFill>
                <a:latin typeface="Helvetica Neue"/>
                <a:ea typeface="Helvetica Neue"/>
                <a:cs typeface="Helvetica Neue"/>
              </a:defRPr>
            </a:pPr>
            <a:r>
              <a:rPr sz="2325" b="0">
                <a:solidFill>
                  <a:srgbClr val="142735"/>
                </a:solidFill>
                <a:latin typeface="Helvetica Neue"/>
                <a:ea typeface="Helvetica Neue"/>
                <a:cs typeface="Helvetica Neue"/>
              </a:rPr>
              <a:t>Better labels and more Active Directory examples</a:t>
            </a:r>
          </a:p>
          <a:p xmlns:a="http://schemas.openxmlformats.org/drawingml/2006/main">
            <a:pPr>
              <a:defRPr sz="2325" b="0">
                <a:solidFill>
                  <a:srgbClr val="142735"/>
                </a:solidFill>
                <a:latin typeface="Helvetica Neue"/>
                <a:ea typeface="Helvetica Neue"/>
                <a:cs typeface="Helvetica Neue"/>
              </a:defRPr>
            </a:pPr>
            <a:r>
              <a:rPr sz="2325" b="0">
                <a:solidFill>
                  <a:srgbClr val="142735"/>
                </a:solidFill>
                <a:latin typeface="Helvetica Neue"/>
                <a:ea typeface="Helvetica Neue"/>
                <a:cs typeface="Helvetica Neue"/>
              </a:rPr>
              <a:t>are the next improvement.</a:t>
            </a:r>
          </a:p>
        </p:txBody>
      </p:sp>
      <p:sp>
        <p:nvSpPr>
          <p:cNvPr id="4" name="">
            <a:extLst xmlns:a="http://schemas.openxmlformats.org/drawingml/2006/main">
              <a:ext uri="{FF2B5EF4-FFF2-40B4-BE49-F238E27FC236}">
                <a16:creationId xmlns:a16="http://schemas.microsoft.com/office/drawing/2014/main" id="{F9F001BE-68F5-4E29-B46A-094AD03D152C}"/>
              </a:ext>
            </a:extLst>
          </p:cNvPr>
          <p:cNvSpPr>
            <a:spLocks xmlns:a="http://schemas.openxmlformats.org/drawingml/2006/main" noGrp="1"/>
          </p:cNvSpPr>
          <p:nvPr/>
        </p:nvSpPr>
        <p:spPr>
          <a:xfrm xmlns:a="http://schemas.openxmlformats.org/drawingml/2006/main">
            <a:off x="685800" y="5905500"/>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170"/>
                </a:solidFill>
                <a:latin typeface="Helvetica Neue"/>
                <a:ea typeface="Helvetica Neue"/>
                <a:cs typeface="Helvetica Neue"/>
              </a:defRPr>
            </a:pPr>
            <a:r>
              <a:rPr sz="1425" b="0">
                <a:solidFill>
                  <a:srgbClr val="506170"/>
                </a:solidFill>
                <a:latin typeface="Helvetica Neue"/>
                <a:ea typeface="Helvetica Neue"/>
                <a:cs typeface="Helvetica Neue"/>
              </a:rPr>
              <a:t>Assignment extension based on The Gen Academy support-ticket router project</a:t>
            </a:r>
          </a:p>
        </p:txBody>
      </p:sp>
    </p:spTree>
    <p:extLst>
      <p:ext uri="{BB962C8B-B14F-4D97-AF65-F5344CB8AC3E}">
        <p14:creationId xmlns:p14="http://schemas.microsoft.com/office/powerpoint/2010/main" val="15249016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2026-09-13T03:06:05.2730000Z</dcterms:created>
  <dcterms:modified xsi:type="dcterms:W3CDTF">2026-09-13T03:06:05.2730000Z</dcterms:modified>
</coreProperties>
</file>